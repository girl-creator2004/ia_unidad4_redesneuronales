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98146" y="4409551"/>
            <a:ext cx="1570990" cy="0"/>
          </a:xfrm>
          <a:custGeom>
            <a:avLst/>
            <a:gdLst/>
            <a:ahLst/>
            <a:cxnLst/>
            <a:rect l="l" t="t" r="r" b="b"/>
            <a:pathLst>
              <a:path w="1570990" h="0">
                <a:moveTo>
                  <a:pt x="0" y="0"/>
                </a:moveTo>
                <a:lnTo>
                  <a:pt x="1570632" y="0"/>
                </a:lnTo>
              </a:path>
            </a:pathLst>
          </a:custGeom>
          <a:ln w="39265">
            <a:solidFill>
              <a:srgbClr val="000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5706" y="4978906"/>
            <a:ext cx="20080605" cy="981710"/>
          </a:xfrm>
          <a:custGeom>
            <a:avLst/>
            <a:gdLst/>
            <a:ahLst/>
            <a:cxnLst/>
            <a:rect l="l" t="t" r="r" b="b"/>
            <a:pathLst>
              <a:path w="20080605" h="981710">
                <a:moveTo>
                  <a:pt x="20080541" y="981645"/>
                </a:moveTo>
                <a:lnTo>
                  <a:pt x="0" y="98164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81645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54085" y="4714250"/>
            <a:ext cx="12346305" cy="1223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E8E8E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706" y="942379"/>
            <a:ext cx="20080605" cy="903605"/>
          </a:xfrm>
          <a:custGeom>
            <a:avLst/>
            <a:gdLst/>
            <a:ahLst/>
            <a:cxnLst/>
            <a:rect l="l" t="t" r="r" b="b"/>
            <a:pathLst>
              <a:path w="20080605" h="903605">
                <a:moveTo>
                  <a:pt x="20080541" y="903113"/>
                </a:moveTo>
                <a:lnTo>
                  <a:pt x="0" y="90311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03113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E8E8E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706" y="942379"/>
            <a:ext cx="20080605" cy="903605"/>
          </a:xfrm>
          <a:custGeom>
            <a:avLst/>
            <a:gdLst/>
            <a:ahLst/>
            <a:cxnLst/>
            <a:rect l="l" t="t" r="r" b="b"/>
            <a:pathLst>
              <a:path w="20080605" h="903605">
                <a:moveTo>
                  <a:pt x="20080541" y="903113"/>
                </a:moveTo>
                <a:lnTo>
                  <a:pt x="0" y="90311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03113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646425" y="3793078"/>
            <a:ext cx="10193655" cy="1154430"/>
          </a:xfrm>
          <a:custGeom>
            <a:avLst/>
            <a:gdLst/>
            <a:ahLst/>
            <a:cxnLst/>
            <a:rect l="l" t="t" r="r" b="b"/>
            <a:pathLst>
              <a:path w="10193655" h="1154429">
                <a:moveTo>
                  <a:pt x="10193407" y="1154415"/>
                </a:moveTo>
                <a:lnTo>
                  <a:pt x="0" y="1154415"/>
                </a:lnTo>
                <a:lnTo>
                  <a:pt x="0" y="0"/>
                </a:lnTo>
                <a:lnTo>
                  <a:pt x="10193407" y="0"/>
                </a:lnTo>
                <a:lnTo>
                  <a:pt x="10193407" y="1154415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6749" y="819081"/>
            <a:ext cx="10070120" cy="987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6763" y="4583364"/>
            <a:ext cx="8430260" cy="2966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E8E8E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jpg"/><Relationship Id="rId9" Type="http://schemas.openxmlformats.org/officeDocument/2006/relationships/image" Target="../media/image22.jp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3476" y="3390992"/>
            <a:ext cx="10264775" cy="15767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150" spc="95"/>
              <a:t>Aplïcacïones</a:t>
            </a:r>
            <a:r>
              <a:rPr dirty="0" sz="10150" spc="665"/>
              <a:t> </a:t>
            </a:r>
            <a:r>
              <a:rPr dirty="0" sz="10150" spc="405"/>
              <a:t>con</a:t>
            </a:r>
            <a:endParaRPr sz="10150"/>
          </a:p>
        </p:txBody>
      </p:sp>
      <p:sp>
        <p:nvSpPr>
          <p:cNvPr id="3" name="object 3" descr=""/>
          <p:cNvSpPr/>
          <p:nvPr/>
        </p:nvSpPr>
        <p:spPr>
          <a:xfrm>
            <a:off x="5787781" y="5175235"/>
            <a:ext cx="8521065" cy="918844"/>
          </a:xfrm>
          <a:custGeom>
            <a:avLst/>
            <a:gdLst/>
            <a:ahLst/>
            <a:cxnLst/>
            <a:rect l="l" t="t" r="r" b="b"/>
            <a:pathLst>
              <a:path w="8521065" h="918845">
                <a:moveTo>
                  <a:pt x="8520683" y="918820"/>
                </a:moveTo>
                <a:lnTo>
                  <a:pt x="0" y="918820"/>
                </a:lnTo>
                <a:lnTo>
                  <a:pt x="0" y="0"/>
                </a:lnTo>
                <a:lnTo>
                  <a:pt x="8520683" y="0"/>
                </a:lnTo>
                <a:lnTo>
                  <a:pt x="8520683" y="918820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753025" y="4789509"/>
            <a:ext cx="8531225" cy="1557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50">
                <a:solidFill>
                  <a:srgbClr val="FFFFFF"/>
                </a:solidFill>
                <a:latin typeface="Arial MT"/>
                <a:cs typeface="Arial MT"/>
              </a:rPr>
              <a:t>Técnïcas</a:t>
            </a:r>
            <a:r>
              <a:rPr dirty="0" sz="10050" spc="6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50" spc="275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10050" spc="-4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50" spc="-465">
                <a:solidFill>
                  <a:srgbClr val="FFFFFF"/>
                </a:solidFill>
                <a:latin typeface="Arial MT"/>
                <a:cs typeface="Arial MT"/>
              </a:rPr>
              <a:t>IA</a:t>
            </a:r>
            <a:endParaRPr sz="10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6343" y="0"/>
            <a:ext cx="10067756" cy="11308556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942379" y="0"/>
            <a:ext cx="8065770" cy="11285220"/>
          </a:xfrm>
          <a:custGeom>
            <a:avLst/>
            <a:gdLst/>
            <a:ahLst/>
            <a:cxnLst/>
            <a:rect l="l" t="t" r="r" b="b"/>
            <a:pathLst>
              <a:path w="8065770" h="11285220">
                <a:moveTo>
                  <a:pt x="8065199" y="11284997"/>
                </a:moveTo>
                <a:lnTo>
                  <a:pt x="0" y="11284997"/>
                </a:lnTo>
                <a:lnTo>
                  <a:pt x="0" y="0"/>
                </a:lnTo>
                <a:lnTo>
                  <a:pt x="8065199" y="0"/>
                </a:lnTo>
                <a:lnTo>
                  <a:pt x="8065199" y="11284997"/>
                </a:lnTo>
                <a:close/>
              </a:path>
            </a:pathLst>
          </a:custGeom>
          <a:solidFill>
            <a:srgbClr val="030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70416" y="900885"/>
            <a:ext cx="4823460" cy="88963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502284" algn="l"/>
              </a:tabLst>
            </a:pPr>
            <a:r>
              <a:rPr dirty="0" baseline="-15240" sz="8475" spc="-787">
                <a:solidFill>
                  <a:srgbClr val="0AEBFF"/>
                </a:solidFill>
              </a:rPr>
              <a:t>Í</a:t>
            </a:r>
            <a:r>
              <a:rPr dirty="0" baseline="-15240" sz="8475">
                <a:solidFill>
                  <a:srgbClr val="0AEBFF"/>
                </a:solidFill>
              </a:rPr>
              <a:t>	</a:t>
            </a:r>
            <a:r>
              <a:rPr dirty="0" sz="5650" spc="-175"/>
              <a:t>4.1.</a:t>
            </a:r>
            <a:r>
              <a:rPr dirty="0" sz="5650" spc="-310"/>
              <a:t> </a:t>
            </a:r>
            <a:r>
              <a:rPr dirty="0" sz="5650" spc="150"/>
              <a:t>Robótica</a:t>
            </a:r>
            <a:endParaRPr sz="5650"/>
          </a:p>
        </p:txBody>
      </p:sp>
      <p:sp>
        <p:nvSpPr>
          <p:cNvPr id="5" name="object 5" descr=""/>
          <p:cNvSpPr txBox="1"/>
          <p:nvPr/>
        </p:nvSpPr>
        <p:spPr>
          <a:xfrm>
            <a:off x="933849" y="4193323"/>
            <a:ext cx="8060690" cy="39446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90"/>
              </a:spcBef>
            </a:pPr>
            <a:r>
              <a:rPr dirty="0" sz="2200" spc="160">
                <a:solidFill>
                  <a:srgbClr val="FFFFFF"/>
                </a:solidFill>
                <a:latin typeface="Arial MT"/>
                <a:cs typeface="Arial MT"/>
              </a:rPr>
              <a:t>Conceptos</a:t>
            </a:r>
            <a:r>
              <a:rPr dirty="0" sz="2200" spc="1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00" spc="100">
                <a:solidFill>
                  <a:srgbClr val="FFFFFF"/>
                </a:solidFill>
                <a:latin typeface="Arial MT"/>
                <a:cs typeface="Arial MT"/>
              </a:rPr>
              <a:t>Básicos</a:t>
            </a:r>
            <a:endParaRPr sz="2200">
              <a:latin typeface="Arial MT"/>
              <a:cs typeface="Arial MT"/>
            </a:endParaRPr>
          </a:p>
          <a:p>
            <a:pPr marL="22225" marR="5080" indent="-10160">
              <a:lnSpc>
                <a:spcPct val="115300"/>
              </a:lnSpc>
              <a:spcBef>
                <a:spcPts val="2375"/>
              </a:spcBef>
            </a:pPr>
            <a:r>
              <a:rPr dirty="0" sz="2950" spc="-120">
                <a:solidFill>
                  <a:srgbClr val="E6E6E6"/>
                </a:solidFill>
                <a:latin typeface="Arial MT"/>
                <a:cs typeface="Arial MT"/>
              </a:rPr>
              <a:t>Integración</a:t>
            </a:r>
            <a:r>
              <a:rPr dirty="0" sz="2950" spc="-5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950" spc="-125">
                <a:solidFill>
                  <a:srgbClr val="DFDFDF"/>
                </a:solidFill>
                <a:latin typeface="Arial MT"/>
                <a:cs typeface="Arial MT"/>
              </a:rPr>
              <a:t>de</a:t>
            </a:r>
            <a:r>
              <a:rPr dirty="0" sz="2950" spc="-21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950" spc="-165">
                <a:solidFill>
                  <a:srgbClr val="E6E6E6"/>
                </a:solidFill>
                <a:latin typeface="Arial MT"/>
                <a:cs typeface="Arial MT"/>
              </a:rPr>
              <a:t>ingeniería</a:t>
            </a:r>
            <a:r>
              <a:rPr dirty="0" sz="2950" spc="5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950" spc="-145">
                <a:solidFill>
                  <a:srgbClr val="DFDFDF"/>
                </a:solidFill>
                <a:latin typeface="Arial MT"/>
                <a:cs typeface="Arial MT"/>
              </a:rPr>
              <a:t>mecónico,</a:t>
            </a:r>
            <a:r>
              <a:rPr dirty="0" sz="295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950" spc="-105">
                <a:solidFill>
                  <a:srgbClr val="E1E1E1"/>
                </a:solidFill>
                <a:latin typeface="Arial MT"/>
                <a:cs typeface="Arial MT"/>
              </a:rPr>
              <a:t>eléctrico</a:t>
            </a:r>
            <a:r>
              <a:rPr dirty="0" sz="2950" spc="-3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950" spc="-50">
                <a:solidFill>
                  <a:srgbClr val="DFDFDF"/>
                </a:solidFill>
                <a:latin typeface="Arial MT"/>
                <a:cs typeface="Arial MT"/>
              </a:rPr>
              <a:t>e </a:t>
            </a:r>
            <a:r>
              <a:rPr dirty="0" sz="2950" spc="-70">
                <a:solidFill>
                  <a:srgbClr val="E2E2E2"/>
                </a:solidFill>
                <a:latin typeface="Arial MT"/>
                <a:cs typeface="Arial MT"/>
              </a:rPr>
              <a:t>informática</a:t>
            </a:r>
            <a:r>
              <a:rPr dirty="0" sz="2950" spc="-7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950" spc="-80">
                <a:solidFill>
                  <a:srgbClr val="E1E1E1"/>
                </a:solidFill>
                <a:latin typeface="Arial MT"/>
                <a:cs typeface="Arial MT"/>
              </a:rPr>
              <a:t>paro</a:t>
            </a:r>
            <a:r>
              <a:rPr dirty="0" sz="2950" spc="-10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950" spc="-114">
                <a:solidFill>
                  <a:srgbClr val="E2E2E2"/>
                </a:solidFill>
                <a:latin typeface="Arial MT"/>
                <a:cs typeface="Arial MT"/>
              </a:rPr>
              <a:t>crear</a:t>
            </a:r>
            <a:r>
              <a:rPr dirty="0" sz="2950" spc="-2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950" spc="-160">
                <a:solidFill>
                  <a:srgbClr val="E2E2E2"/>
                </a:solidFill>
                <a:latin typeface="Arial MT"/>
                <a:cs typeface="Arial MT"/>
              </a:rPr>
              <a:t>móquinos</a:t>
            </a:r>
            <a:r>
              <a:rPr dirty="0" sz="2950" spc="-3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950" spc="-150">
                <a:solidFill>
                  <a:srgbClr val="E2E2E2"/>
                </a:solidFill>
                <a:latin typeface="Arial MT"/>
                <a:cs typeface="Arial MT"/>
              </a:rPr>
              <a:t>capaces</a:t>
            </a:r>
            <a:r>
              <a:rPr dirty="0" sz="2950" spc="-9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950" spc="-125">
                <a:solidFill>
                  <a:srgbClr val="E2E2E2"/>
                </a:solidFill>
                <a:latin typeface="Arial MT"/>
                <a:cs typeface="Arial MT"/>
              </a:rPr>
              <a:t>de</a:t>
            </a:r>
            <a:r>
              <a:rPr dirty="0" sz="2950" spc="-21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950" spc="-100">
                <a:solidFill>
                  <a:srgbClr val="DFDFDF"/>
                </a:solidFill>
                <a:latin typeface="Arial MT"/>
                <a:cs typeface="Arial MT"/>
              </a:rPr>
              <a:t>realizar </a:t>
            </a:r>
            <a:r>
              <a:rPr dirty="0" sz="2950" spc="-110">
                <a:solidFill>
                  <a:srgbClr val="E6E6E6"/>
                </a:solidFill>
                <a:latin typeface="Arial MT"/>
                <a:cs typeface="Arial MT"/>
              </a:rPr>
              <a:t>tareas</a:t>
            </a:r>
            <a:r>
              <a:rPr dirty="0" sz="2950" spc="-16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950" spc="-50">
                <a:solidFill>
                  <a:srgbClr val="E2E2E2"/>
                </a:solidFill>
                <a:latin typeface="Arial MT"/>
                <a:cs typeface="Arial MT"/>
              </a:rPr>
              <a:t>outomóticos.</a:t>
            </a:r>
            <a:endParaRPr sz="2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2950">
              <a:latin typeface="Arial MT"/>
              <a:cs typeface="Arial MT"/>
            </a:endParaRPr>
          </a:p>
          <a:p>
            <a:pPr marL="22860" marR="114300" indent="-2540">
              <a:lnSpc>
                <a:spcPct val="115300"/>
              </a:lnSpc>
              <a:spcBef>
                <a:spcPts val="5"/>
              </a:spcBef>
            </a:pPr>
            <a:r>
              <a:rPr dirty="0" sz="2950" spc="-35">
                <a:solidFill>
                  <a:srgbClr val="3FAFB8"/>
                </a:solidFill>
                <a:latin typeface="Arial MT"/>
                <a:cs typeface="Arial MT"/>
              </a:rPr>
              <a:t>Interactividad:</a:t>
            </a:r>
            <a:r>
              <a:rPr dirty="0" sz="2950" spc="-190">
                <a:solidFill>
                  <a:srgbClr val="3FAFB8"/>
                </a:solidFill>
                <a:latin typeface="Arial MT"/>
                <a:cs typeface="Arial MT"/>
              </a:rPr>
              <a:t> </a:t>
            </a:r>
            <a:r>
              <a:rPr dirty="0" sz="2950" spc="-105">
                <a:solidFill>
                  <a:srgbClr val="EBEBEB"/>
                </a:solidFill>
                <a:latin typeface="Arial MT"/>
                <a:cs typeface="Arial MT"/>
              </a:rPr>
              <a:t>Capacidad</a:t>
            </a:r>
            <a:r>
              <a:rPr dirty="0" sz="2950" spc="35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2950" spc="-125">
                <a:solidFill>
                  <a:srgbClr val="DBDBDB"/>
                </a:solidFill>
                <a:latin typeface="Arial MT"/>
                <a:cs typeface="Arial MT"/>
              </a:rPr>
              <a:t>de</a:t>
            </a:r>
            <a:r>
              <a:rPr dirty="0" sz="2950" spc="-16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950" spc="-254">
                <a:solidFill>
                  <a:srgbClr val="DFDFDF"/>
                </a:solidFill>
                <a:latin typeface="Arial MT"/>
                <a:cs typeface="Arial MT"/>
              </a:rPr>
              <a:t>sensores</a:t>
            </a:r>
            <a:r>
              <a:rPr dirty="0" sz="2950" spc="1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950" spc="-285">
                <a:solidFill>
                  <a:srgbClr val="DDDDDD"/>
                </a:solidFill>
                <a:latin typeface="Arial MT"/>
                <a:cs typeface="Arial MT"/>
              </a:rPr>
              <a:t>y</a:t>
            </a:r>
            <a:r>
              <a:rPr dirty="0" sz="2950" spc="-9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950" spc="-120">
                <a:solidFill>
                  <a:srgbClr val="E8E8E8"/>
                </a:solidFill>
                <a:latin typeface="Arial MT"/>
                <a:cs typeface="Arial MT"/>
              </a:rPr>
              <a:t>octuodores </a:t>
            </a:r>
            <a:r>
              <a:rPr dirty="0" sz="2950" spc="-85">
                <a:solidFill>
                  <a:srgbClr val="E1E1E1"/>
                </a:solidFill>
                <a:latin typeface="Arial MT"/>
                <a:cs typeface="Arial MT"/>
              </a:rPr>
              <a:t>paro</a:t>
            </a:r>
            <a:r>
              <a:rPr dirty="0" sz="2950" spc="-12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950" spc="-155">
                <a:solidFill>
                  <a:srgbClr val="E8E8E8"/>
                </a:solidFill>
                <a:latin typeface="Arial MT"/>
                <a:cs typeface="Arial MT"/>
              </a:rPr>
              <a:t>responder</a:t>
            </a:r>
            <a:r>
              <a:rPr dirty="0" sz="2950" spc="12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950" spc="-114">
                <a:solidFill>
                  <a:srgbClr val="DDDDDD"/>
                </a:solidFill>
                <a:latin typeface="Arial MT"/>
                <a:cs typeface="Arial MT"/>
              </a:rPr>
              <a:t>ol</a:t>
            </a:r>
            <a:r>
              <a:rPr dirty="0" sz="2950" spc="-21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950" spc="-114">
                <a:solidFill>
                  <a:srgbClr val="E1E1E1"/>
                </a:solidFill>
                <a:latin typeface="Arial MT"/>
                <a:cs typeface="Arial MT"/>
              </a:rPr>
              <a:t>entorno</a:t>
            </a:r>
            <a:r>
              <a:rPr dirty="0" sz="2950" spc="-5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950" spc="-220">
                <a:solidFill>
                  <a:srgbClr val="E6E6E6"/>
                </a:solidFill>
                <a:latin typeface="Arial MT"/>
                <a:cs typeface="Arial MT"/>
              </a:rPr>
              <a:t>físico</a:t>
            </a:r>
            <a:r>
              <a:rPr dirty="0" sz="2950" spc="-8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950" spc="-190">
                <a:solidFill>
                  <a:srgbClr val="DDDDDD"/>
                </a:solidFill>
                <a:latin typeface="Arial MT"/>
                <a:cs typeface="Arial MT"/>
              </a:rPr>
              <a:t>en</a:t>
            </a:r>
            <a:r>
              <a:rPr dirty="0" sz="2950" spc="-11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950" spc="-95">
                <a:solidFill>
                  <a:srgbClr val="E4E4E4"/>
                </a:solidFill>
                <a:latin typeface="Arial MT"/>
                <a:cs typeface="Arial MT"/>
              </a:rPr>
              <a:t>tiempo</a:t>
            </a:r>
            <a:r>
              <a:rPr dirty="0" sz="2950" spc="-11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E1E1E1"/>
                </a:solidFill>
                <a:latin typeface="Arial MT"/>
                <a:cs typeface="Arial MT"/>
              </a:rPr>
              <a:t>real.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019" y="917245"/>
            <a:ext cx="8782050" cy="86995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429259" algn="l"/>
              </a:tabLst>
            </a:pPr>
            <a:r>
              <a:rPr dirty="0" sz="5500" spc="-800">
                <a:solidFill>
                  <a:srgbClr val="0AEDFB"/>
                </a:solidFill>
              </a:rPr>
              <a:t>t</a:t>
            </a:r>
            <a:r>
              <a:rPr dirty="0" sz="5500">
                <a:solidFill>
                  <a:srgbClr val="0AEDFB"/>
                </a:solidFill>
              </a:rPr>
              <a:t>	</a:t>
            </a:r>
            <a:r>
              <a:rPr dirty="0" sz="5500" spc="160"/>
              <a:t>Clasificación</a:t>
            </a:r>
            <a:r>
              <a:rPr dirty="0" sz="5500" spc="585"/>
              <a:t> </a:t>
            </a:r>
            <a:r>
              <a:rPr dirty="0" sz="5500"/>
              <a:t>g</a:t>
            </a:r>
            <a:r>
              <a:rPr dirty="0" sz="5500" spc="-295"/>
              <a:t> </a:t>
            </a:r>
            <a:r>
              <a:rPr dirty="0" sz="5500" spc="60"/>
              <a:t>Desarrollo</a:t>
            </a:r>
            <a:endParaRPr sz="5500"/>
          </a:p>
        </p:txBody>
      </p:sp>
      <p:grpSp>
        <p:nvGrpSpPr>
          <p:cNvPr id="3" name="object 3" descr=""/>
          <p:cNvGrpSpPr/>
          <p:nvPr/>
        </p:nvGrpSpPr>
        <p:grpSpPr>
          <a:xfrm>
            <a:off x="15706" y="3800931"/>
            <a:ext cx="20088860" cy="659765"/>
            <a:chOff x="15706" y="3800931"/>
            <a:chExt cx="20088860" cy="65976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41923" y="3800931"/>
              <a:ext cx="4162176" cy="65966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53629" y="3800931"/>
              <a:ext cx="4209295" cy="65966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1098" y="3800931"/>
              <a:ext cx="4209295" cy="65966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3800931"/>
              <a:ext cx="20088393" cy="659665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15706" y="4931786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724371" y="4817650"/>
            <a:ext cx="2161540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125">
                <a:solidFill>
                  <a:srgbClr val="FFFFFF"/>
                </a:solidFill>
                <a:latin typeface="Arial MT"/>
                <a:cs typeface="Arial MT"/>
              </a:rPr>
              <a:t>Industriales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014229" y="4841864"/>
            <a:ext cx="203581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65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28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145">
                <a:solidFill>
                  <a:srgbClr val="FFFFFF"/>
                </a:solidFill>
                <a:latin typeface="Arial MT"/>
                <a:cs typeface="Arial MT"/>
              </a:rPr>
              <a:t>Servicio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176960" y="4825503"/>
            <a:ext cx="214820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95">
                <a:solidFill>
                  <a:srgbClr val="FFFFFF"/>
                </a:solidFill>
                <a:latin typeface="Arial MT"/>
                <a:cs typeface="Arial MT"/>
              </a:rPr>
              <a:t>Exploración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5706" y="5764222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10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699794" y="5682807"/>
            <a:ext cx="428244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>
                <a:solidFill>
                  <a:srgbClr val="E6E6E6"/>
                </a:solidFill>
                <a:latin typeface="Arial MT"/>
                <a:cs typeface="Arial MT"/>
              </a:rPr>
              <a:t>Automatización</a:t>
            </a:r>
            <a:r>
              <a:rPr dirty="0" sz="2700" spc="-5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4E4E4"/>
                </a:solidFill>
                <a:latin typeface="Arial MT"/>
                <a:cs typeface="Arial MT"/>
              </a:rPr>
              <a:t>de </a:t>
            </a:r>
            <a:r>
              <a:rPr dirty="0" sz="2700" spc="-100">
                <a:solidFill>
                  <a:srgbClr val="DFDFDF"/>
                </a:solidFill>
                <a:latin typeface="Arial MT"/>
                <a:cs typeface="Arial MT"/>
              </a:rPr>
              <a:t>líneas</a:t>
            </a:r>
            <a:r>
              <a:rPr dirty="0" sz="2700" spc="5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700" spc="-25">
                <a:solidFill>
                  <a:srgbClr val="DFDFDF"/>
                </a:solidFill>
                <a:latin typeface="Arial MT"/>
                <a:cs typeface="Arial MT"/>
              </a:rPr>
              <a:t>de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746731" y="5682807"/>
            <a:ext cx="461772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65">
                <a:solidFill>
                  <a:srgbClr val="E4E4E4"/>
                </a:solidFill>
                <a:latin typeface="Arial MT"/>
                <a:cs typeface="Arial MT"/>
              </a:rPr>
              <a:t>Asistencia</a:t>
            </a:r>
            <a:r>
              <a:rPr dirty="0" sz="2700" spc="-8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4E4E4"/>
                </a:solidFill>
                <a:latin typeface="Arial MT"/>
                <a:cs typeface="Arial MT"/>
              </a:rPr>
              <a:t>medica,</a:t>
            </a:r>
            <a:r>
              <a:rPr dirty="0" sz="2700" spc="-19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E4E4E4"/>
                </a:solidFill>
                <a:latin typeface="Arial MT"/>
                <a:cs typeface="Arial MT"/>
              </a:rPr>
              <a:t>quirúrgica</a:t>
            </a:r>
            <a:r>
              <a:rPr dirty="0" sz="2700" spc="-6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 spc="-50">
                <a:solidFill>
                  <a:srgbClr val="DADADA"/>
                </a:solidFill>
                <a:latin typeface="Arial MT"/>
                <a:cs typeface="Arial MT"/>
              </a:rPr>
              <a:t>y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866958" y="5666446"/>
            <a:ext cx="478853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229">
                <a:solidFill>
                  <a:srgbClr val="E8E8E8"/>
                </a:solidFill>
                <a:latin typeface="Arial MT"/>
                <a:cs typeface="Arial MT"/>
              </a:rPr>
              <a:t>Rovers</a:t>
            </a:r>
            <a:r>
              <a:rPr dirty="0" sz="2800" spc="-7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800" spc="-105">
                <a:solidFill>
                  <a:srgbClr val="E4E4E4"/>
                </a:solidFill>
                <a:latin typeface="Arial MT"/>
                <a:cs typeface="Arial MT"/>
              </a:rPr>
              <a:t>espaciales</a:t>
            </a:r>
            <a:r>
              <a:rPr dirty="0" sz="2800" spc="2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800" spc="-204">
                <a:solidFill>
                  <a:srgbClr val="DADADA"/>
                </a:solidFill>
                <a:latin typeface="Arial MT"/>
                <a:cs typeface="Arial MT"/>
              </a:rPr>
              <a:t>y</a:t>
            </a:r>
            <a:r>
              <a:rPr dirty="0" sz="2800" spc="-55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800" spc="-120">
                <a:solidFill>
                  <a:srgbClr val="E1E1E1"/>
                </a:solidFill>
                <a:latin typeface="Arial MT"/>
                <a:cs typeface="Arial MT"/>
              </a:rPr>
              <a:t>drones</a:t>
            </a:r>
            <a:r>
              <a:rPr dirty="0" sz="2800" spc="-12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DDDDDD"/>
                </a:solidFill>
                <a:latin typeface="Arial MT"/>
                <a:cs typeface="Arial MT"/>
              </a:rPr>
              <a:t>para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5706" y="6282531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780944" y="6201116"/>
            <a:ext cx="4075429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>
                <a:solidFill>
                  <a:srgbClr val="E2E2E2"/>
                </a:solidFill>
                <a:latin typeface="Arial MT"/>
                <a:cs typeface="Arial MT"/>
              </a:rPr>
              <a:t>ensamblaje</a:t>
            </a:r>
            <a:r>
              <a:rPr dirty="0" sz="2700" spc="2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700" spc="-210">
                <a:solidFill>
                  <a:srgbClr val="DADADA"/>
                </a:solidFill>
                <a:latin typeface="Arial MT"/>
                <a:cs typeface="Arial MT"/>
              </a:rPr>
              <a:t>y</a:t>
            </a:r>
            <a:r>
              <a:rPr dirty="0" sz="2700" spc="5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E2E2E2"/>
                </a:solidFill>
                <a:latin typeface="Arial MT"/>
                <a:cs typeface="Arial MT"/>
              </a:rPr>
              <a:t>manufactura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777825" y="6184755"/>
            <a:ext cx="452056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55">
                <a:solidFill>
                  <a:srgbClr val="E1E1E1"/>
                </a:solidFill>
                <a:latin typeface="Arial MT"/>
                <a:cs typeface="Arial MT"/>
              </a:rPr>
              <a:t>robots</a:t>
            </a:r>
            <a:r>
              <a:rPr dirty="0" sz="2800" spc="-14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800" spc="-50">
                <a:solidFill>
                  <a:srgbClr val="E2E2E2"/>
                </a:solidFill>
                <a:latin typeface="Arial MT"/>
                <a:cs typeface="Arial MT"/>
              </a:rPr>
              <a:t>de</a:t>
            </a:r>
            <a:r>
              <a:rPr dirty="0" sz="2800" spc="-15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800" spc="-50">
                <a:solidFill>
                  <a:srgbClr val="E1E1E1"/>
                </a:solidFill>
                <a:latin typeface="Arial MT"/>
                <a:cs typeface="Arial MT"/>
              </a:rPr>
              <a:t>limpieza</a:t>
            </a:r>
            <a:r>
              <a:rPr dirty="0" sz="2800" spc="-14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800" spc="-50">
                <a:solidFill>
                  <a:srgbClr val="E4E4E4"/>
                </a:solidFill>
                <a:latin typeface="Arial MT"/>
                <a:cs typeface="Arial MT"/>
              </a:rPr>
              <a:t>doméstica.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4823450" y="6184755"/>
            <a:ext cx="286258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85">
                <a:solidFill>
                  <a:srgbClr val="E6E6E6"/>
                </a:solidFill>
                <a:latin typeface="Arial MT"/>
                <a:cs typeface="Arial MT"/>
              </a:rPr>
              <a:t>terrenos</a:t>
            </a:r>
            <a:r>
              <a:rPr dirty="0" sz="2800" spc="-6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800" spc="-145">
                <a:solidFill>
                  <a:srgbClr val="E8E8E8"/>
                </a:solidFill>
                <a:latin typeface="Arial MT"/>
                <a:cs typeface="Arial MT"/>
              </a:rPr>
              <a:t>peligrosos.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5706" y="6800839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010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3214782" y="6703063"/>
            <a:ext cx="121475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90">
                <a:solidFill>
                  <a:srgbClr val="DFDFDF"/>
                </a:solidFill>
                <a:latin typeface="Arial MT"/>
                <a:cs typeface="Arial MT"/>
              </a:rPr>
              <a:t>pesada.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5706" y="8622774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0508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941174" y="8524998"/>
            <a:ext cx="1242568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200">
                <a:solidFill>
                  <a:srgbClr val="1CE1D6"/>
                </a:solidFill>
                <a:latin typeface="Arial MT"/>
                <a:cs typeface="Arial MT"/>
              </a:rPr>
              <a:t>Desc</a:t>
            </a:r>
            <a:r>
              <a:rPr dirty="0" sz="2800" spc="-245">
                <a:solidFill>
                  <a:srgbClr val="1CE1D6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1CE1D6"/>
                </a:solidFill>
                <a:latin typeface="Arial MT"/>
                <a:cs typeface="Arial MT"/>
              </a:rPr>
              <a:t>r</a:t>
            </a:r>
            <a:r>
              <a:rPr dirty="0" sz="2800" spc="-75">
                <a:solidFill>
                  <a:srgbClr val="1CE1D6"/>
                </a:solidFill>
                <a:latin typeface="Arial MT"/>
                <a:cs typeface="Arial MT"/>
              </a:rPr>
              <a:t> alia</a:t>
            </a:r>
            <a:r>
              <a:rPr dirty="0" sz="2800" spc="-180">
                <a:solidFill>
                  <a:srgbClr val="1CE1D6"/>
                </a:solidFill>
                <a:latin typeface="Arial MT"/>
                <a:cs typeface="Arial MT"/>
              </a:rPr>
              <a:t> </a:t>
            </a:r>
            <a:r>
              <a:rPr dirty="0" sz="2800" spc="-110">
                <a:solidFill>
                  <a:srgbClr val="03E9FB"/>
                </a:solidFill>
                <a:latin typeface="Arial MT"/>
                <a:cs typeface="Arial MT"/>
              </a:rPr>
              <a:t>uc</a:t>
            </a:r>
            <a:r>
              <a:rPr dirty="0" sz="2800" spc="-315">
                <a:solidFill>
                  <a:srgbClr val="03E9FB"/>
                </a:solidFill>
                <a:latin typeface="Arial MT"/>
                <a:cs typeface="Arial MT"/>
              </a:rPr>
              <a:t> </a:t>
            </a:r>
            <a:r>
              <a:rPr dirty="0" sz="2800" spc="-75">
                <a:solidFill>
                  <a:srgbClr val="0A425B"/>
                </a:solidFill>
                <a:latin typeface="Arial MT"/>
                <a:cs typeface="Arial MT"/>
              </a:rPr>
              <a:t>fr:c!:</a:t>
            </a:r>
            <a:r>
              <a:rPr dirty="0" sz="2800" spc="-114">
                <a:solidFill>
                  <a:srgbClr val="0A425B"/>
                </a:solidFill>
                <a:latin typeface="Arial MT"/>
                <a:cs typeface="Arial MT"/>
              </a:rPr>
              <a:t> </a:t>
            </a:r>
            <a:r>
              <a:rPr dirty="0" sz="2800" spc="-80">
                <a:solidFill>
                  <a:srgbClr val="E4E4E4"/>
                </a:solidFill>
                <a:latin typeface="Arial MT"/>
                <a:cs typeface="Arial MT"/>
              </a:rPr>
              <a:t>Cobots</a:t>
            </a:r>
            <a:r>
              <a:rPr dirty="0" sz="2800" spc="-9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800" spc="-70">
                <a:solidFill>
                  <a:srgbClr val="E1E1E1"/>
                </a:solidFill>
                <a:latin typeface="Arial MT"/>
                <a:cs typeface="Arial MT"/>
              </a:rPr>
              <a:t>(robots</a:t>
            </a:r>
            <a:r>
              <a:rPr dirty="0" sz="2800" spc="-9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800" spc="-70">
                <a:solidFill>
                  <a:srgbClr val="E8E8E8"/>
                </a:solidFill>
                <a:latin typeface="Arial MT"/>
                <a:cs typeface="Arial MT"/>
              </a:rPr>
              <a:t>colaborativos)</a:t>
            </a:r>
            <a:r>
              <a:rPr dirty="0" sz="2800" spc="-4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800" spc="-204">
                <a:solidFill>
                  <a:srgbClr val="DBDBDB"/>
                </a:solidFill>
                <a:latin typeface="Arial MT"/>
                <a:cs typeface="Arial MT"/>
              </a:rPr>
              <a:t>y</a:t>
            </a:r>
            <a:r>
              <a:rPr dirty="0" sz="2800" spc="-6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800" spc="-120">
                <a:solidFill>
                  <a:srgbClr val="E6E6E6"/>
                </a:solidFill>
                <a:latin typeface="Arial MT"/>
                <a:cs typeface="Arial MT"/>
              </a:rPr>
              <a:t>exoesqueletos</a:t>
            </a:r>
            <a:r>
              <a:rPr dirty="0" sz="2800" spc="12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800" spc="-110">
                <a:solidFill>
                  <a:srgbClr val="E6E6E6"/>
                </a:solidFill>
                <a:latin typeface="Arial MT"/>
                <a:cs typeface="Arial MT"/>
              </a:rPr>
              <a:t>impulsados</a:t>
            </a:r>
            <a:r>
              <a:rPr dirty="0" sz="2800" spc="-4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DDDDDD"/>
                </a:solidFill>
                <a:latin typeface="Arial MT"/>
                <a:cs typeface="Arial MT"/>
              </a:rPr>
              <a:t>por</a:t>
            </a:r>
            <a:r>
              <a:rPr dirty="0" sz="2800" spc="-4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E4E4E4"/>
                </a:solidFill>
                <a:latin typeface="Arial MT"/>
                <a:cs typeface="Arial MT"/>
              </a:rPr>
              <a:t>IA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019" y="917245"/>
            <a:ext cx="6798309" cy="86995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429259" algn="l"/>
              </a:tabLst>
            </a:pPr>
            <a:r>
              <a:rPr dirty="0" sz="5500" spc="-800">
                <a:solidFill>
                  <a:srgbClr val="0AEDFB"/>
                </a:solidFill>
              </a:rPr>
              <a:t>t</a:t>
            </a:r>
            <a:r>
              <a:rPr dirty="0" sz="5500">
                <a:solidFill>
                  <a:srgbClr val="0AEDFB"/>
                </a:solidFill>
              </a:rPr>
              <a:t>	</a:t>
            </a:r>
            <a:r>
              <a:rPr dirty="0" sz="5500" spc="160"/>
              <a:t>Clasificación</a:t>
            </a:r>
            <a:r>
              <a:rPr dirty="0" sz="5500" spc="430"/>
              <a:t> </a:t>
            </a:r>
            <a:r>
              <a:rPr dirty="0" sz="5500" spc="150"/>
              <a:t>de</a:t>
            </a:r>
            <a:r>
              <a:rPr dirty="0" sz="5500" spc="-195"/>
              <a:t> </a:t>
            </a:r>
            <a:r>
              <a:rPr dirty="0" sz="5500" spc="-509"/>
              <a:t>RN</a:t>
            </a:r>
            <a:endParaRPr sz="5500"/>
          </a:p>
        </p:txBody>
      </p:sp>
      <p:sp>
        <p:nvSpPr>
          <p:cNvPr id="3" name="object 3" descr=""/>
          <p:cNvSpPr/>
          <p:nvPr/>
        </p:nvSpPr>
        <p:spPr>
          <a:xfrm>
            <a:off x="15706" y="4099351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10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7649" y="4050003"/>
            <a:ext cx="870013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7850" algn="l"/>
              </a:tabLst>
            </a:pPr>
            <a:r>
              <a:rPr dirty="0" sz="2550" spc="-365">
                <a:solidFill>
                  <a:srgbClr val="0AEDFD"/>
                </a:solidFill>
                <a:latin typeface="Arial MT"/>
                <a:cs typeface="Arial MT"/>
              </a:rPr>
              <a:t>@</a:t>
            </a:r>
            <a:r>
              <a:rPr dirty="0" sz="2550">
                <a:solidFill>
                  <a:srgbClr val="0AEDFD"/>
                </a:solidFill>
                <a:latin typeface="Arial MT"/>
                <a:cs typeface="Arial MT"/>
              </a:rPr>
              <a:t>	</a:t>
            </a:r>
            <a:r>
              <a:rPr dirty="0" sz="2550" spc="-125">
                <a:solidFill>
                  <a:srgbClr val="08F2FF"/>
                </a:solidFill>
                <a:latin typeface="Arial MT"/>
                <a:cs typeface="Arial MT"/>
              </a:rPr>
              <a:t>RN</a:t>
            </a:r>
            <a:r>
              <a:rPr dirty="0" sz="2550" spc="165">
                <a:solidFill>
                  <a:srgbClr val="08F2FF"/>
                </a:solidFill>
                <a:latin typeface="Arial MT"/>
                <a:cs typeface="Arial MT"/>
              </a:rPr>
              <a:t> </a:t>
            </a:r>
            <a:r>
              <a:rPr dirty="0" sz="2550" spc="125">
                <a:solidFill>
                  <a:srgbClr val="00F4FF"/>
                </a:solidFill>
                <a:latin typeface="Arial MT"/>
                <a:cs typeface="Arial MT"/>
              </a:rPr>
              <a:t>Monocapa</a:t>
            </a:r>
            <a:r>
              <a:rPr dirty="0" sz="2550" spc="340">
                <a:solidFill>
                  <a:srgbClr val="00F4F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BAFA8"/>
                </a:solidFill>
                <a:latin typeface="Arial MT"/>
                <a:cs typeface="Arial MT"/>
              </a:rPr>
              <a:t>(Perceptrón):</a:t>
            </a:r>
            <a:r>
              <a:rPr dirty="0" sz="2550" spc="245">
                <a:solidFill>
                  <a:srgbClr val="3BAFA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DDDDD"/>
                </a:solidFill>
                <a:latin typeface="Arial MT"/>
                <a:cs typeface="Arial MT"/>
              </a:rPr>
              <a:t>La</a:t>
            </a:r>
            <a:r>
              <a:rPr dirty="0" sz="2550" spc="13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4E4E4"/>
                </a:solidFill>
                <a:latin typeface="Arial MT"/>
                <a:cs typeface="Arial MT"/>
              </a:rPr>
              <a:t>estructuro</a:t>
            </a:r>
            <a:r>
              <a:rPr dirty="0" sz="2550" spc="38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550" spc="125">
                <a:solidFill>
                  <a:srgbClr val="E4E4E4"/>
                </a:solidFill>
                <a:latin typeface="Arial MT"/>
                <a:cs typeface="Arial MT"/>
              </a:rPr>
              <a:t>môs</a:t>
            </a:r>
            <a:r>
              <a:rPr dirty="0" sz="2550" spc="2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DBDBDB"/>
                </a:solidFill>
                <a:latin typeface="Arial MT"/>
                <a:cs typeface="Arial MT"/>
              </a:rPr>
              <a:t>simple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706" y="4649073"/>
            <a:ext cx="20080605" cy="353695"/>
          </a:xfrm>
          <a:prstGeom prst="rect">
            <a:avLst/>
          </a:prstGeom>
          <a:solidFill>
            <a:srgbClr val="000313"/>
          </a:solidFill>
        </p:spPr>
        <p:txBody>
          <a:bodyPr wrap="square" lIns="0" tIns="0" rIns="0" bIns="0" rtlCol="0" vert="horz">
            <a:spAutoFit/>
          </a:bodyPr>
          <a:lstStyle/>
          <a:p>
            <a:pPr marL="1492885">
              <a:lnSpc>
                <a:spcPts val="2580"/>
              </a:lnSpc>
            </a:pPr>
            <a:r>
              <a:rPr dirty="0" sz="2700">
                <a:solidFill>
                  <a:srgbClr val="DADADA"/>
                </a:solidFill>
                <a:latin typeface="Arial MT"/>
                <a:cs typeface="Arial MT"/>
              </a:rPr>
              <a:t>para</a:t>
            </a:r>
            <a:r>
              <a:rPr dirty="0" sz="2700" spc="5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4E4E4"/>
                </a:solidFill>
                <a:latin typeface="Arial MT"/>
                <a:cs typeface="Arial MT"/>
              </a:rPr>
              <a:t>problemas</a:t>
            </a:r>
            <a:r>
              <a:rPr dirty="0" sz="2700" spc="5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E6E6E6"/>
                </a:solidFill>
                <a:latin typeface="Arial MT"/>
                <a:cs typeface="Arial MT"/>
              </a:rPr>
              <a:t>lineales.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706" y="5057437"/>
            <a:ext cx="20080605" cy="306705"/>
          </a:xfrm>
          <a:prstGeom prst="rect">
            <a:avLst/>
          </a:prstGeom>
          <a:solidFill>
            <a:srgbClr val="000313"/>
          </a:solidFill>
        </p:spPr>
        <p:txBody>
          <a:bodyPr wrap="square" lIns="0" tIns="0" rIns="0" bIns="0" rtlCol="0" vert="horz">
            <a:spAutoFit/>
          </a:bodyPr>
          <a:lstStyle/>
          <a:p>
            <a:pPr marL="10903585">
              <a:lnSpc>
                <a:spcPts val="2410"/>
              </a:lnSpc>
              <a:tabLst>
                <a:tab pos="13091160" algn="l"/>
              </a:tabLst>
            </a:pPr>
            <a:r>
              <a:rPr dirty="0" sz="2800" spc="155">
                <a:solidFill>
                  <a:srgbClr val="FFFFFF"/>
                </a:solidFill>
                <a:latin typeface="Arial MT"/>
                <a:cs typeface="Arial MT"/>
              </a:rPr>
              <a:t>Desarrollos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 spc="175">
                <a:solidFill>
                  <a:srgbClr val="FFFFFF"/>
                </a:solidFill>
                <a:latin typeface="Arial MT"/>
                <a:cs typeface="Arial MT"/>
              </a:rPr>
              <a:t>Actuales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5706" y="5450096"/>
            <a:ext cx="20080605" cy="903605"/>
          </a:xfrm>
          <a:custGeom>
            <a:avLst/>
            <a:gdLst/>
            <a:ahLst/>
            <a:cxnLst/>
            <a:rect l="l" t="t" r="r" b="b"/>
            <a:pathLst>
              <a:path w="20080605" h="903604">
                <a:moveTo>
                  <a:pt x="20080541" y="903113"/>
                </a:moveTo>
                <a:lnTo>
                  <a:pt x="0" y="90311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03113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39463" y="5278368"/>
            <a:ext cx="8373745" cy="1062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68960" marR="5080" indent="-569595">
              <a:lnSpc>
                <a:spcPct val="126000"/>
              </a:lnSpc>
              <a:spcBef>
                <a:spcPts val="95"/>
              </a:spcBef>
              <a:tabLst>
                <a:tab pos="564515" algn="l"/>
              </a:tabLst>
            </a:pPr>
            <a:r>
              <a:rPr dirty="0" sz="2700" spc="140">
                <a:solidFill>
                  <a:srgbClr val="00F2FD"/>
                </a:solidFill>
                <a:latin typeface="Arial MT"/>
                <a:cs typeface="Arial MT"/>
              </a:rPr>
              <a:t>@</a:t>
            </a:r>
            <a:r>
              <a:rPr dirty="0" sz="2700">
                <a:solidFill>
                  <a:srgbClr val="00F2FD"/>
                </a:solidFill>
                <a:latin typeface="Arial MT"/>
                <a:cs typeface="Arial MT"/>
              </a:rPr>
              <a:t>	</a:t>
            </a:r>
            <a:r>
              <a:rPr dirty="0" sz="2700" spc="-295">
                <a:solidFill>
                  <a:srgbClr val="26D6CC"/>
                </a:solidFill>
                <a:latin typeface="Arial MT"/>
                <a:cs typeface="Arial MT"/>
              </a:rPr>
              <a:t>RN</a:t>
            </a:r>
            <a:r>
              <a:rPr dirty="0" sz="2700" spc="20">
                <a:solidFill>
                  <a:srgbClr val="26D6CC"/>
                </a:solidFill>
                <a:latin typeface="Arial MT"/>
                <a:cs typeface="Arial MT"/>
              </a:rPr>
              <a:t> </a:t>
            </a:r>
            <a:r>
              <a:rPr dirty="0" sz="2700" spc="85">
                <a:solidFill>
                  <a:srgbClr val="0FE8E8"/>
                </a:solidFill>
                <a:latin typeface="Arial MT"/>
                <a:cs typeface="Arial MT"/>
              </a:rPr>
              <a:t>Multicapa</a:t>
            </a:r>
            <a:r>
              <a:rPr dirty="0" sz="2700" spc="-15">
                <a:solidFill>
                  <a:srgbClr val="0FE8E8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23CFCC"/>
                </a:solidFill>
                <a:latin typeface="Arial MT"/>
                <a:cs typeface="Arial MT"/>
              </a:rPr>
              <a:t>(Deep</a:t>
            </a:r>
            <a:r>
              <a:rPr dirty="0" sz="2700" spc="5">
                <a:solidFill>
                  <a:srgbClr val="23CFCC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24B6AA"/>
                </a:solidFill>
                <a:latin typeface="Arial MT"/>
                <a:cs typeface="Arial MT"/>
              </a:rPr>
              <a:t>Learning):</a:t>
            </a:r>
            <a:r>
              <a:rPr dirty="0" sz="2700" spc="-10">
                <a:solidFill>
                  <a:srgbClr val="24B6AA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8E8E8"/>
                </a:solidFill>
                <a:latin typeface="Arial MT"/>
                <a:cs typeface="Arial MT"/>
              </a:rPr>
              <a:t>Copas</a:t>
            </a:r>
            <a:r>
              <a:rPr dirty="0" sz="2700" spc="-10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700" spc="-25">
                <a:solidFill>
                  <a:srgbClr val="E4E4E4"/>
                </a:solidFill>
                <a:latin typeface="Arial MT"/>
                <a:cs typeface="Arial MT"/>
              </a:rPr>
              <a:t>ocultas</a:t>
            </a:r>
            <a:r>
              <a:rPr dirty="0" sz="2700" spc="-12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E2E2E2"/>
                </a:solidFill>
                <a:latin typeface="Arial MT"/>
                <a:cs typeface="Arial MT"/>
              </a:rPr>
              <a:t>para </a:t>
            </a:r>
            <a:r>
              <a:rPr dirty="0" sz="2700">
                <a:solidFill>
                  <a:srgbClr val="E8E8E8"/>
                </a:solidFill>
                <a:latin typeface="Arial MT"/>
                <a:cs typeface="Arial MT"/>
              </a:rPr>
              <a:t>procesar</a:t>
            </a:r>
            <a:r>
              <a:rPr dirty="0" sz="2700" spc="8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8E8E8"/>
                </a:solidFill>
                <a:latin typeface="Arial MT"/>
                <a:cs typeface="Arial MT"/>
              </a:rPr>
              <a:t>datos</a:t>
            </a:r>
            <a:r>
              <a:rPr dirty="0" sz="2700" spc="-17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E8E8E8"/>
                </a:solidFill>
                <a:latin typeface="Arial MT"/>
                <a:cs typeface="Arial MT"/>
              </a:rPr>
              <a:t>complejos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929444" y="5824818"/>
            <a:ext cx="706945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E2E2E2"/>
                </a:solidFill>
                <a:latin typeface="Arial MT"/>
                <a:cs typeface="Arial MT"/>
              </a:rPr>
              <a:t>Uso</a:t>
            </a:r>
            <a:r>
              <a:rPr dirty="0" sz="2550" spc="-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4E4E4"/>
                </a:solidFill>
                <a:latin typeface="Arial MT"/>
                <a:cs typeface="Arial MT"/>
              </a:rPr>
              <a:t>masivo</a:t>
            </a:r>
            <a:r>
              <a:rPr dirty="0" sz="2550" spc="10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550" spc="110">
                <a:solidFill>
                  <a:srgbClr val="D6D6D6"/>
                </a:solidFill>
                <a:latin typeface="Arial MT"/>
                <a:cs typeface="Arial MT"/>
              </a:rPr>
              <a:t>de</a:t>
            </a:r>
            <a:r>
              <a:rPr dirty="0" sz="2550" spc="-6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DFDFDF"/>
                </a:solidFill>
                <a:latin typeface="Arial MT"/>
                <a:cs typeface="Arial MT"/>
              </a:rPr>
              <a:t>arquitecturos</a:t>
            </a:r>
            <a:r>
              <a:rPr dirty="0" sz="2550" spc="16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 spc="85">
                <a:solidFill>
                  <a:srgbClr val="1FD6D1"/>
                </a:solidFill>
                <a:latin typeface="Arial MT"/>
                <a:cs typeface="Arial MT"/>
              </a:rPr>
              <a:t>Transformer</a:t>
            </a:r>
            <a:r>
              <a:rPr dirty="0" sz="2550" spc="215">
                <a:solidFill>
                  <a:srgbClr val="1FD6D1"/>
                </a:solidFill>
                <a:latin typeface="Arial MT"/>
                <a:cs typeface="Arial MT"/>
              </a:rPr>
              <a:t> </a:t>
            </a:r>
            <a:r>
              <a:rPr dirty="0" sz="2550" spc="85">
                <a:solidFill>
                  <a:srgbClr val="DADADA"/>
                </a:solidFill>
                <a:latin typeface="Arial MT"/>
                <a:cs typeface="Arial MT"/>
              </a:rPr>
              <a:t>paro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5706" y="6408181"/>
            <a:ext cx="20080605" cy="1311910"/>
          </a:xfrm>
          <a:custGeom>
            <a:avLst/>
            <a:gdLst/>
            <a:ahLst/>
            <a:cxnLst/>
            <a:rect l="l" t="t" r="r" b="b"/>
            <a:pathLst>
              <a:path w="20080605" h="1311909">
                <a:moveTo>
                  <a:pt x="20080541" y="1311478"/>
                </a:moveTo>
                <a:lnTo>
                  <a:pt x="0" y="131147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311478"/>
                </a:lnTo>
                <a:close/>
              </a:path>
            </a:pathLst>
          </a:custGeom>
          <a:solidFill>
            <a:srgbClr val="010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485975" y="6632385"/>
            <a:ext cx="7437755" cy="10623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1115" marR="5080" indent="-19050">
              <a:lnSpc>
                <a:spcPct val="121500"/>
              </a:lnSpc>
              <a:spcBef>
                <a:spcPts val="90"/>
              </a:spcBef>
              <a:tabLst>
                <a:tab pos="407670" algn="l"/>
                <a:tab pos="1064895" algn="l"/>
                <a:tab pos="1669414" algn="l"/>
                <a:tab pos="2038350" algn="l"/>
                <a:tab pos="2731770" algn="l"/>
              </a:tabLst>
            </a:pPr>
            <a:r>
              <a:rPr dirty="0" sz="2800" spc="-25">
                <a:solidFill>
                  <a:srgbClr val="00E6DD"/>
                </a:solidFill>
                <a:latin typeface="Arial MT"/>
                <a:cs typeface="Arial MT"/>
              </a:rPr>
              <a:t>.\</a:t>
            </a:r>
            <a:r>
              <a:rPr dirty="0" sz="2800">
                <a:solidFill>
                  <a:srgbClr val="00E6DD"/>
                </a:solidFill>
                <a:latin typeface="Arial MT"/>
                <a:cs typeface="Arial MT"/>
              </a:rPr>
              <a:t>	</a:t>
            </a:r>
            <a:r>
              <a:rPr dirty="0" sz="2800" spc="-20">
                <a:solidFill>
                  <a:srgbClr val="00E6DD"/>
                </a:solidFill>
                <a:latin typeface="Arial MT"/>
                <a:cs typeface="Arial MT"/>
              </a:rPr>
              <a:t>c›:'</a:t>
            </a:r>
            <a:r>
              <a:rPr dirty="0" sz="2800">
                <a:solidFill>
                  <a:srgbClr val="00E6DD"/>
                </a:solidFill>
                <a:latin typeface="Arial MT"/>
                <a:cs typeface="Arial MT"/>
              </a:rPr>
              <a:t>	</a:t>
            </a:r>
            <a:r>
              <a:rPr dirty="0" sz="2800" spc="-20">
                <a:solidFill>
                  <a:srgbClr val="00EFEB"/>
                </a:solidFill>
                <a:latin typeface="Arial MT"/>
                <a:cs typeface="Arial MT"/>
              </a:rPr>
              <a:t>.:»’</a:t>
            </a:r>
            <a:r>
              <a:rPr dirty="0" sz="2800">
                <a:solidFill>
                  <a:srgbClr val="00EFEB"/>
                </a:solidFill>
                <a:latin typeface="Arial MT"/>
                <a:cs typeface="Arial MT"/>
              </a:rPr>
              <a:t>	</a:t>
            </a:r>
            <a:r>
              <a:rPr dirty="0" sz="2800" spc="-285">
                <a:solidFill>
                  <a:srgbClr val="00EFEB"/>
                </a:solidFill>
                <a:latin typeface="Arial MT"/>
                <a:cs typeface="Arial MT"/>
              </a:rPr>
              <a:t>.‹</a:t>
            </a:r>
            <a:r>
              <a:rPr dirty="0" sz="2800">
                <a:solidFill>
                  <a:srgbClr val="00EFEB"/>
                </a:solidFill>
                <a:latin typeface="Arial MT"/>
                <a:cs typeface="Arial MT"/>
              </a:rPr>
              <a:t>	</a:t>
            </a:r>
            <a:r>
              <a:rPr dirty="0" sz="2800" spc="40">
                <a:solidFill>
                  <a:srgbClr val="00F6FB"/>
                </a:solidFill>
                <a:latin typeface="Arial MT"/>
                <a:cs typeface="Arial MT"/>
              </a:rPr>
              <a:t>.//!.</a:t>
            </a:r>
            <a:r>
              <a:rPr dirty="0" sz="2800">
                <a:solidFill>
                  <a:srgbClr val="00F6FB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4FC3D6"/>
                </a:solidFill>
                <a:latin typeface="Arial MT"/>
                <a:cs typeface="Arial MT"/>
              </a:rPr>
              <a:t>‘:</a:t>
            </a:r>
            <a:r>
              <a:rPr dirty="0" sz="2800" spc="-195">
                <a:solidFill>
                  <a:srgbClr val="4FC3D6"/>
                </a:solidFill>
                <a:latin typeface="Arial MT"/>
                <a:cs typeface="Arial MT"/>
              </a:rPr>
              <a:t> </a:t>
            </a:r>
            <a:r>
              <a:rPr dirty="0" sz="2800" spc="-90">
                <a:solidFill>
                  <a:srgbClr val="E9E9E9"/>
                </a:solidFill>
                <a:latin typeface="Arial MT"/>
                <a:cs typeface="Arial MT"/>
              </a:rPr>
              <a:t>Procesamiento</a:t>
            </a:r>
            <a:r>
              <a:rPr dirty="0" sz="2800" spc="6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2800" spc="-30">
                <a:solidFill>
                  <a:srgbClr val="DFDFDF"/>
                </a:solidFill>
                <a:latin typeface="Arial MT"/>
                <a:cs typeface="Arial MT"/>
              </a:rPr>
              <a:t>de</a:t>
            </a:r>
            <a:r>
              <a:rPr dirty="0" sz="2800" spc="-16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800" spc="-125">
                <a:solidFill>
                  <a:srgbClr val="E2E2E2"/>
                </a:solidFill>
                <a:latin typeface="Arial MT"/>
                <a:cs typeface="Arial MT"/>
              </a:rPr>
              <a:t>secuencias </a:t>
            </a:r>
            <a:r>
              <a:rPr dirty="0" sz="2800" spc="-45">
                <a:solidFill>
                  <a:srgbClr val="E4E4E4"/>
                </a:solidFill>
                <a:latin typeface="Arial MT"/>
                <a:cs typeface="Arial MT"/>
              </a:rPr>
              <a:t>temporales</a:t>
            </a:r>
            <a:r>
              <a:rPr dirty="0" sz="2800" spc="-12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800" spc="-270">
                <a:solidFill>
                  <a:srgbClr val="DFDFDF"/>
                </a:solidFill>
                <a:latin typeface="Arial MT"/>
                <a:cs typeface="Arial MT"/>
              </a:rPr>
              <a:t>y</a:t>
            </a:r>
            <a:r>
              <a:rPr dirty="0" sz="2800" spc="6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E8E8E8"/>
                </a:solidFill>
                <a:latin typeface="Arial MT"/>
                <a:cs typeface="Arial MT"/>
              </a:rPr>
              <a:t>voz.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918739" y="6224020"/>
            <a:ext cx="6788784" cy="10623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5240" marR="5080" indent="-3175">
              <a:lnSpc>
                <a:spcPct val="121500"/>
              </a:lnSpc>
              <a:spcBef>
                <a:spcPts val="90"/>
              </a:spcBef>
            </a:pPr>
            <a:r>
              <a:rPr dirty="0" sz="2800" spc="-90">
                <a:solidFill>
                  <a:srgbClr val="DFDFDF"/>
                </a:solidFill>
                <a:latin typeface="Arial MT"/>
                <a:cs typeface="Arial MT"/>
              </a:rPr>
              <a:t>modelos</a:t>
            </a:r>
            <a:r>
              <a:rPr dirty="0" sz="2800" spc="-10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800" spc="-50">
                <a:solidFill>
                  <a:srgbClr val="E1E1E1"/>
                </a:solidFill>
                <a:latin typeface="Arial MT"/>
                <a:cs typeface="Arial MT"/>
              </a:rPr>
              <a:t>de</a:t>
            </a:r>
            <a:r>
              <a:rPr dirty="0" sz="2800" spc="-15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800" spc="-80">
                <a:solidFill>
                  <a:srgbClr val="DFDFDF"/>
                </a:solidFill>
                <a:latin typeface="Arial MT"/>
                <a:cs typeface="Arial MT"/>
              </a:rPr>
              <a:t>lenguaje</a:t>
            </a:r>
            <a:r>
              <a:rPr dirty="0" sz="2800" spc="-9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800" spc="-270">
                <a:solidFill>
                  <a:srgbClr val="DADADA"/>
                </a:solidFill>
                <a:latin typeface="Arial MT"/>
                <a:cs typeface="Arial MT"/>
              </a:rPr>
              <a:t>y</a:t>
            </a:r>
            <a:r>
              <a:rPr dirty="0" sz="2800" spc="6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800" spc="-195">
                <a:solidFill>
                  <a:srgbClr val="E4E4E4"/>
                </a:solidFill>
                <a:latin typeface="Arial MT"/>
                <a:cs typeface="Arial MT"/>
              </a:rPr>
              <a:t>visión,</a:t>
            </a:r>
            <a:r>
              <a:rPr dirty="0" sz="2800" spc="-6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E2E2E2"/>
                </a:solidFill>
                <a:latin typeface="Arial MT"/>
                <a:cs typeface="Arial MT"/>
              </a:rPr>
              <a:t>permitiendo</a:t>
            </a:r>
            <a:r>
              <a:rPr dirty="0" sz="2800" spc="2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E1E1E1"/>
                </a:solidFill>
                <a:latin typeface="Arial MT"/>
                <a:cs typeface="Arial MT"/>
              </a:rPr>
              <a:t>el </a:t>
            </a:r>
            <a:r>
              <a:rPr dirty="0" sz="2800" spc="-50">
                <a:solidFill>
                  <a:srgbClr val="E6E6E6"/>
                </a:solidFill>
                <a:latin typeface="Arial MT"/>
                <a:cs typeface="Arial MT"/>
              </a:rPr>
              <a:t>aprendizaje</a:t>
            </a:r>
            <a:r>
              <a:rPr dirty="0" sz="2800" spc="1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800" spc="-80">
                <a:solidFill>
                  <a:srgbClr val="E8E8E8"/>
                </a:solidFill>
                <a:latin typeface="Arial MT"/>
                <a:cs typeface="Arial MT"/>
              </a:rPr>
              <a:t>autosupervisado</a:t>
            </a:r>
            <a:r>
              <a:rPr dirty="0" sz="2800" spc="-25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DBDBDB"/>
                </a:solidFill>
                <a:latin typeface="Arial MT"/>
                <a:cs typeface="Arial MT"/>
              </a:rPr>
              <a:t>a</a:t>
            </a:r>
            <a:r>
              <a:rPr dirty="0" sz="2800" spc="-17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800" spc="-105">
                <a:solidFill>
                  <a:srgbClr val="E8E8E8"/>
                </a:solidFill>
                <a:latin typeface="Arial MT"/>
                <a:cs typeface="Arial MT"/>
              </a:rPr>
              <a:t>escala</a:t>
            </a:r>
            <a:r>
              <a:rPr dirty="0" sz="2800" spc="-1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800" spc="-35">
                <a:solidFill>
                  <a:srgbClr val="E6E6E6"/>
                </a:solidFill>
                <a:latin typeface="Arial MT"/>
                <a:cs typeface="Arial MT"/>
              </a:rPr>
              <a:t>global.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5706" y="8151584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0305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927649" y="8102236"/>
            <a:ext cx="785431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9120" algn="l"/>
              </a:tabLst>
            </a:pPr>
            <a:r>
              <a:rPr dirty="0" sz="2550" spc="-50">
                <a:solidFill>
                  <a:srgbClr val="00F4FB"/>
                </a:solidFill>
                <a:latin typeface="Arial MT"/>
                <a:cs typeface="Arial MT"/>
              </a:rPr>
              <a:t>@</a:t>
            </a:r>
            <a:r>
              <a:rPr dirty="0" sz="2550">
                <a:solidFill>
                  <a:srgbClr val="00F4FB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0AEBF7"/>
                </a:solidFill>
                <a:latin typeface="Arial MT"/>
                <a:cs typeface="Arial MT"/>
              </a:rPr>
              <a:t>Canve!ucionaîes</a:t>
            </a:r>
            <a:r>
              <a:rPr dirty="0" sz="2550" spc="310">
                <a:solidFill>
                  <a:srgbClr val="0AEBF7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1ADDF6"/>
                </a:solidFill>
                <a:latin typeface="Arial MT"/>
                <a:cs typeface="Arial MT"/>
              </a:rPr>
              <a:t>(C</a:t>
            </a:r>
            <a:r>
              <a:rPr dirty="0" sz="2550" spc="-385">
                <a:solidFill>
                  <a:srgbClr val="1ADDF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F9CA8"/>
                </a:solidFill>
                <a:latin typeface="Arial MT"/>
                <a:cs typeface="Arial MT"/>
              </a:rPr>
              <a:t>NN):</a:t>
            </a:r>
            <a:r>
              <a:rPr dirty="0" sz="2550" spc="175">
                <a:solidFill>
                  <a:srgbClr val="2F9CA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2E2E2"/>
                </a:solidFill>
                <a:latin typeface="Arial MT"/>
                <a:cs typeface="Arial MT"/>
              </a:rPr>
              <a:t>Especializodas</a:t>
            </a:r>
            <a:r>
              <a:rPr dirty="0" sz="2550" spc="9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D6D6D6"/>
                </a:solidFill>
                <a:latin typeface="Arial MT"/>
                <a:cs typeface="Arial MT"/>
              </a:rPr>
              <a:t>en</a:t>
            </a:r>
            <a:r>
              <a:rPr dirty="0" sz="2550" spc="254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8E8E8"/>
                </a:solidFill>
                <a:latin typeface="Arial MT"/>
                <a:cs typeface="Arial MT"/>
              </a:rPr>
              <a:t>visión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4708" y="3188384"/>
            <a:ext cx="8701305" cy="6282531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06" y="942379"/>
            <a:ext cx="20080605" cy="903605"/>
          </a:xfrm>
          <a:custGeom>
            <a:avLst/>
            <a:gdLst/>
            <a:ahLst/>
            <a:cxnLst/>
            <a:rect l="l" t="t" r="r" b="b"/>
            <a:pathLst>
              <a:path w="20080605" h="903605">
                <a:moveTo>
                  <a:pt x="20080541" y="903113"/>
                </a:moveTo>
                <a:lnTo>
                  <a:pt x="0" y="90311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03113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13668" sz="9450">
                <a:solidFill>
                  <a:srgbClr val="0AEBFF"/>
                </a:solidFill>
              </a:rPr>
              <a:t>i</a:t>
            </a:r>
            <a:r>
              <a:rPr dirty="0" baseline="-13668" sz="9450" spc="352">
                <a:solidFill>
                  <a:srgbClr val="0AEBFF"/>
                </a:solidFill>
              </a:rPr>
              <a:t> </a:t>
            </a:r>
            <a:r>
              <a:rPr dirty="0" baseline="-13668" sz="9450" spc="465"/>
              <a:t>°•^</a:t>
            </a:r>
            <a:r>
              <a:rPr dirty="0" sz="6300" spc="310"/>
              <a:t>.</a:t>
            </a:r>
            <a:r>
              <a:rPr dirty="0" sz="6300" spc="-955"/>
              <a:t> </a:t>
            </a:r>
            <a:r>
              <a:rPr dirty="0" sz="6300" spc="-290"/>
              <a:t>Visión</a:t>
            </a:r>
            <a:r>
              <a:rPr dirty="0" sz="6300" spc="-145"/>
              <a:t> </a:t>
            </a:r>
            <a:r>
              <a:rPr dirty="0" sz="6300" spc="-10"/>
              <a:t>Artificial</a:t>
            </a:r>
            <a:endParaRPr sz="6300"/>
          </a:p>
        </p:txBody>
      </p:sp>
      <p:sp>
        <p:nvSpPr>
          <p:cNvPr id="5" name="object 5" descr=""/>
          <p:cNvSpPr txBox="1"/>
          <p:nvPr/>
        </p:nvSpPr>
        <p:spPr>
          <a:xfrm>
            <a:off x="942379" y="3188384"/>
            <a:ext cx="7971155" cy="6275070"/>
          </a:xfrm>
          <a:prstGeom prst="rect">
            <a:avLst/>
          </a:prstGeom>
          <a:solidFill>
            <a:srgbClr val="0A0A26"/>
          </a:solidFill>
        </p:spPr>
        <p:txBody>
          <a:bodyPr wrap="square" lIns="0" tIns="2794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00"/>
              </a:spcBef>
            </a:pPr>
            <a:endParaRPr sz="2800">
              <a:latin typeface="Times New Roman"/>
              <a:cs typeface="Times New Roman"/>
            </a:endParaRPr>
          </a:p>
          <a:p>
            <a:pPr marL="11430">
              <a:lnSpc>
                <a:spcPct val="100000"/>
              </a:lnSpc>
              <a:spcBef>
                <a:spcPts val="5"/>
              </a:spcBef>
            </a:pPr>
            <a:r>
              <a:rPr dirty="0" sz="2800" spc="-75">
                <a:solidFill>
                  <a:srgbClr val="DDDDDD"/>
                </a:solidFill>
                <a:latin typeface="Arial MT"/>
                <a:cs typeface="Arial MT"/>
              </a:rPr>
              <a:t>Permite</a:t>
            </a:r>
            <a:r>
              <a:rPr dirty="0" sz="2800" spc="-12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D6D6D6"/>
                </a:solidFill>
                <a:latin typeface="Arial MT"/>
                <a:cs typeface="Arial MT"/>
              </a:rPr>
              <a:t>o</a:t>
            </a:r>
            <a:r>
              <a:rPr dirty="0" sz="2800" spc="-195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800" spc="-140">
                <a:solidFill>
                  <a:srgbClr val="E8E8E8"/>
                </a:solidFill>
                <a:latin typeface="Arial MT"/>
                <a:cs typeface="Arial MT"/>
              </a:rPr>
              <a:t>los</a:t>
            </a:r>
            <a:r>
              <a:rPr dirty="0" sz="2800" spc="-16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800" spc="-40">
                <a:solidFill>
                  <a:srgbClr val="E4E4E4"/>
                </a:solidFill>
                <a:latin typeface="Arial MT"/>
                <a:cs typeface="Arial MT"/>
              </a:rPr>
              <a:t>computadoras</a:t>
            </a:r>
            <a:r>
              <a:rPr dirty="0" sz="2800" spc="-7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DFDFDF"/>
                </a:solidFill>
                <a:latin typeface="Arial MT"/>
                <a:cs typeface="Arial MT"/>
              </a:rPr>
              <a:t>obtener</a:t>
            </a:r>
            <a:r>
              <a:rPr dirty="0" sz="2800" spc="-3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E2E2E2"/>
                </a:solidFill>
                <a:latin typeface="Arial MT"/>
                <a:cs typeface="Arial MT"/>
              </a:rPr>
              <a:t>información</a:t>
            </a:r>
            <a:endParaRPr sz="28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819"/>
              </a:spcBef>
            </a:pPr>
            <a:r>
              <a:rPr dirty="0" sz="2700" spc="-20">
                <a:solidFill>
                  <a:srgbClr val="E4E4E4"/>
                </a:solidFill>
                <a:latin typeface="Arial MT"/>
                <a:cs typeface="Arial MT"/>
              </a:rPr>
              <a:t>significativo</a:t>
            </a:r>
            <a:r>
              <a:rPr dirty="0" sz="2700" spc="3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4E4E4"/>
                </a:solidFill>
                <a:latin typeface="Arial MT"/>
                <a:cs typeface="Arial MT"/>
              </a:rPr>
              <a:t>a</a:t>
            </a:r>
            <a:r>
              <a:rPr dirty="0" sz="2700" spc="-16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 spc="50">
                <a:solidFill>
                  <a:srgbClr val="E4E4E4"/>
                </a:solidFill>
                <a:latin typeface="Arial MT"/>
                <a:cs typeface="Arial MT"/>
              </a:rPr>
              <a:t>partir</a:t>
            </a:r>
            <a:r>
              <a:rPr dirty="0" sz="2700" spc="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DDDDD"/>
                </a:solidFill>
                <a:latin typeface="Arial MT"/>
                <a:cs typeface="Arial MT"/>
              </a:rPr>
              <a:t>de</a:t>
            </a:r>
            <a:r>
              <a:rPr dirty="0" sz="2700" spc="-19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DEDED"/>
                </a:solidFill>
                <a:latin typeface="Arial MT"/>
                <a:cs typeface="Arial MT"/>
              </a:rPr>
              <a:t>imógenes</a:t>
            </a:r>
            <a:r>
              <a:rPr dirty="0" sz="2700" spc="-55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FDFDF"/>
                </a:solidFill>
                <a:latin typeface="Arial MT"/>
                <a:cs typeface="Arial MT"/>
              </a:rPr>
              <a:t>digitales</a:t>
            </a:r>
            <a:r>
              <a:rPr dirty="0" sz="2700" spc="-1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8D8D8"/>
                </a:solidFill>
                <a:latin typeface="Arial MT"/>
                <a:cs typeface="Arial MT"/>
              </a:rPr>
              <a:t>y</a:t>
            </a:r>
            <a:r>
              <a:rPr dirty="0" sz="2700" spc="-50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E6E6E6"/>
                </a:solidFill>
                <a:latin typeface="Arial MT"/>
                <a:cs typeface="Arial MT"/>
              </a:rPr>
              <a:t>videos.</a:t>
            </a: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tabLst>
                <a:tab pos="560705" algn="l"/>
              </a:tabLst>
            </a:pPr>
            <a:r>
              <a:rPr dirty="0" sz="2800" spc="35">
                <a:solidFill>
                  <a:srgbClr val="00F2FD"/>
                </a:solidFill>
                <a:latin typeface="Arial MT"/>
                <a:cs typeface="Arial MT"/>
              </a:rPr>
              <a:t>@</a:t>
            </a:r>
            <a:r>
              <a:rPr dirty="0" sz="2800">
                <a:solidFill>
                  <a:srgbClr val="00F2FD"/>
                </a:solidFill>
                <a:latin typeface="Arial MT"/>
                <a:cs typeface="Arial MT"/>
              </a:rPr>
              <a:t>	</a:t>
            </a:r>
            <a:r>
              <a:rPr dirty="0" sz="2800" spc="-70">
                <a:solidFill>
                  <a:srgbClr val="EBEBEB"/>
                </a:solidFill>
                <a:latin typeface="Arial MT"/>
                <a:cs typeface="Arial MT"/>
              </a:rPr>
              <a:t>Detección</a:t>
            </a:r>
            <a:r>
              <a:rPr dirty="0" sz="2800" spc="-105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2800" spc="-35">
                <a:solidFill>
                  <a:srgbClr val="E9E9E9"/>
                </a:solidFill>
                <a:latin typeface="Arial MT"/>
                <a:cs typeface="Arial MT"/>
              </a:rPr>
              <a:t>de</a:t>
            </a:r>
            <a:r>
              <a:rPr dirty="0" sz="2800" spc="-16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EBEBEB"/>
                </a:solidFill>
                <a:latin typeface="Arial MT"/>
                <a:cs typeface="Arial MT"/>
              </a:rPr>
              <a:t>objetos.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tabLst>
                <a:tab pos="573405" algn="l"/>
              </a:tabLst>
            </a:pPr>
            <a:r>
              <a:rPr dirty="0" sz="2700" spc="140">
                <a:solidFill>
                  <a:srgbClr val="0EEBF9"/>
                </a:solidFill>
                <a:latin typeface="Arial MT"/>
                <a:cs typeface="Arial MT"/>
              </a:rPr>
              <a:t>@</a:t>
            </a:r>
            <a:r>
              <a:rPr dirty="0" sz="2700">
                <a:solidFill>
                  <a:srgbClr val="0EEBF9"/>
                </a:solidFill>
                <a:latin typeface="Arial MT"/>
                <a:cs typeface="Arial MT"/>
              </a:rPr>
              <a:t>	</a:t>
            </a:r>
            <a:r>
              <a:rPr dirty="0" sz="2700">
                <a:solidFill>
                  <a:srgbClr val="E6E6E6"/>
                </a:solidFill>
                <a:latin typeface="Arial MT"/>
                <a:cs typeface="Arial MT"/>
              </a:rPr>
              <a:t>Segmentación</a:t>
            </a:r>
            <a:r>
              <a:rPr dirty="0" sz="2700" spc="9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BDBDB"/>
                </a:solidFill>
                <a:latin typeface="Arial MT"/>
                <a:cs typeface="Arial MT"/>
              </a:rPr>
              <a:t>de</a:t>
            </a:r>
            <a:r>
              <a:rPr dirty="0" sz="2700" spc="-13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EDEDED"/>
                </a:solidFill>
                <a:latin typeface="Arial MT"/>
                <a:cs typeface="Arial MT"/>
              </a:rPr>
              <a:t>imógenes.</a:t>
            </a: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tabLst>
                <a:tab pos="560070" algn="l"/>
              </a:tabLst>
            </a:pPr>
            <a:r>
              <a:rPr dirty="0" sz="2800" spc="35">
                <a:solidFill>
                  <a:srgbClr val="0AEDFD"/>
                </a:solidFill>
                <a:latin typeface="Arial MT"/>
                <a:cs typeface="Arial MT"/>
              </a:rPr>
              <a:t>@</a:t>
            </a:r>
            <a:r>
              <a:rPr dirty="0" sz="2800">
                <a:solidFill>
                  <a:srgbClr val="0AEDFD"/>
                </a:solidFill>
                <a:latin typeface="Arial MT"/>
                <a:cs typeface="Arial MT"/>
              </a:rPr>
              <a:t>	</a:t>
            </a:r>
            <a:r>
              <a:rPr dirty="0" sz="2800" spc="-95">
                <a:solidFill>
                  <a:srgbClr val="E6E6E6"/>
                </a:solidFill>
                <a:latin typeface="Arial MT"/>
                <a:cs typeface="Arial MT"/>
              </a:rPr>
              <a:t>Reconocimiento</a:t>
            </a:r>
            <a:r>
              <a:rPr dirty="0" sz="2800" spc="-12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E6E6E6"/>
                </a:solidFill>
                <a:latin typeface="Arial MT"/>
                <a:cs typeface="Arial MT"/>
              </a:rPr>
              <a:t>biométrico.</a:t>
            </a:r>
            <a:endParaRPr sz="2800">
              <a:latin typeface="Arial MT"/>
              <a:cs typeface="Arial MT"/>
            </a:endParaRPr>
          </a:p>
          <a:p>
            <a:pPr marL="15875" marR="26034" indent="15875">
              <a:lnSpc>
                <a:spcPct val="121500"/>
              </a:lnSpc>
              <a:spcBef>
                <a:spcPts val="2720"/>
              </a:spcBef>
            </a:pPr>
            <a:r>
              <a:rPr dirty="0" sz="2800" spc="-40">
                <a:solidFill>
                  <a:srgbClr val="4DC8D3"/>
                </a:solidFill>
                <a:latin typeface="Arial MT"/>
                <a:cs typeface="Arial MT"/>
              </a:rPr>
              <a:t>Aplicación:</a:t>
            </a:r>
            <a:r>
              <a:rPr dirty="0" sz="2800" spc="-75">
                <a:solidFill>
                  <a:srgbClr val="4DC8D3"/>
                </a:solidFill>
                <a:latin typeface="Arial MT"/>
                <a:cs typeface="Arial MT"/>
              </a:rPr>
              <a:t> </a:t>
            </a:r>
            <a:r>
              <a:rPr dirty="0" sz="2800" spc="-90">
                <a:solidFill>
                  <a:srgbClr val="E4E4E4"/>
                </a:solidFill>
                <a:latin typeface="Arial MT"/>
                <a:cs typeface="Arial MT"/>
              </a:rPr>
              <a:t>Diagnóstico</a:t>
            </a:r>
            <a:r>
              <a:rPr dirty="0" sz="2800" spc="-4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E1E1E1"/>
                </a:solidFill>
                <a:latin typeface="Arial MT"/>
                <a:cs typeface="Arial MT"/>
              </a:rPr>
              <a:t>médico</a:t>
            </a:r>
            <a:r>
              <a:rPr dirty="0" sz="2800" spc="-12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800" spc="-100">
                <a:solidFill>
                  <a:srgbClr val="E6E6E6"/>
                </a:solidFill>
                <a:latin typeface="Arial MT"/>
                <a:cs typeface="Arial MT"/>
              </a:rPr>
              <a:t>preventivo</a:t>
            </a:r>
            <a:r>
              <a:rPr dirty="0" sz="2800" spc="-6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E6E6E6"/>
                </a:solidFill>
                <a:latin typeface="Arial MT"/>
                <a:cs typeface="Arial MT"/>
              </a:rPr>
              <a:t>mediante </a:t>
            </a:r>
            <a:r>
              <a:rPr dirty="0" sz="2800" spc="-120">
                <a:solidFill>
                  <a:srgbClr val="E2E2E2"/>
                </a:solidFill>
                <a:latin typeface="Arial MT"/>
                <a:cs typeface="Arial MT"/>
              </a:rPr>
              <a:t>rayos</a:t>
            </a:r>
            <a:r>
              <a:rPr dirty="0" sz="2800" spc="-5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800" spc="-340">
                <a:solidFill>
                  <a:srgbClr val="DBDBDB"/>
                </a:solidFill>
                <a:latin typeface="Arial MT"/>
                <a:cs typeface="Arial MT"/>
              </a:rPr>
              <a:t>X</a:t>
            </a:r>
            <a:r>
              <a:rPr dirty="0" sz="2800" spc="13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800" spc="-204">
                <a:solidFill>
                  <a:srgbClr val="D8D8D8"/>
                </a:solidFill>
                <a:latin typeface="Arial MT"/>
                <a:cs typeface="Arial MT"/>
              </a:rPr>
              <a:t>y</a:t>
            </a:r>
            <a:r>
              <a:rPr dirty="0" sz="2800" spc="-8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800" spc="-60">
                <a:solidFill>
                  <a:srgbClr val="EDEDED"/>
                </a:solidFill>
                <a:latin typeface="Arial MT"/>
                <a:cs typeface="Arial MT"/>
              </a:rPr>
              <a:t>resonancias.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836" y="835441"/>
            <a:ext cx="6492240" cy="96837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14001" sz="9225">
                <a:solidFill>
                  <a:srgbClr val="0AEBFF"/>
                </a:solidFill>
              </a:rPr>
              <a:t>i</a:t>
            </a:r>
            <a:r>
              <a:rPr dirty="0" baseline="-14001" sz="9225" spc="487">
                <a:solidFill>
                  <a:srgbClr val="0AEBFF"/>
                </a:solidFill>
              </a:rPr>
              <a:t> </a:t>
            </a:r>
            <a:r>
              <a:rPr dirty="0" baseline="-12195" sz="9225" spc="247"/>
              <a:t>°•</a:t>
            </a:r>
            <a:r>
              <a:rPr dirty="0" baseline="2258" sz="9225" spc="247"/>
              <a:t>4.</a:t>
            </a:r>
            <a:r>
              <a:rPr dirty="0" baseline="2258" sz="9225" spc="-960"/>
              <a:t> </a:t>
            </a:r>
            <a:r>
              <a:rPr dirty="0" sz="6150" spc="-130"/>
              <a:t>Lógica</a:t>
            </a:r>
            <a:r>
              <a:rPr dirty="0" sz="6150" spc="-425"/>
              <a:t> </a:t>
            </a:r>
            <a:r>
              <a:rPr dirty="0" sz="6150" spc="-40"/>
              <a:t>Difusa</a:t>
            </a:r>
            <a:endParaRPr sz="6150"/>
          </a:p>
        </p:txBody>
      </p:sp>
      <p:sp>
        <p:nvSpPr>
          <p:cNvPr id="3" name="object 3" descr=""/>
          <p:cNvSpPr/>
          <p:nvPr/>
        </p:nvSpPr>
        <p:spPr>
          <a:xfrm>
            <a:off x="15706" y="4429184"/>
            <a:ext cx="20080605" cy="573405"/>
          </a:xfrm>
          <a:custGeom>
            <a:avLst/>
            <a:gdLst/>
            <a:ahLst/>
            <a:cxnLst/>
            <a:rect l="l" t="t" r="r" b="b"/>
            <a:pathLst>
              <a:path w="20080605" h="573404">
                <a:moveTo>
                  <a:pt x="20080541" y="573281"/>
                </a:moveTo>
                <a:lnTo>
                  <a:pt x="0" y="57328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73281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440269" y="4350386"/>
            <a:ext cx="283845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130">
                <a:solidFill>
                  <a:srgbClr val="FFFFFF"/>
                </a:solidFill>
                <a:latin typeface="Arial MT"/>
                <a:cs typeface="Arial MT"/>
              </a:rPr>
              <a:t>Aplicaciones</a:t>
            </a:r>
            <a:r>
              <a:rPr dirty="0" sz="2200" spc="2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00" spc="55">
                <a:solidFill>
                  <a:srgbClr val="FFFFFF"/>
                </a:solidFill>
                <a:latin typeface="Arial MT"/>
                <a:cs typeface="Arial MT"/>
              </a:rPr>
              <a:t>Reales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5706" y="5057437"/>
            <a:ext cx="20080605" cy="1311910"/>
          </a:xfrm>
          <a:custGeom>
            <a:avLst/>
            <a:gdLst/>
            <a:ahLst/>
            <a:cxnLst/>
            <a:rect l="l" t="t" r="r" b="b"/>
            <a:pathLst>
              <a:path w="20080605" h="1311910">
                <a:moveTo>
                  <a:pt x="20080541" y="1311478"/>
                </a:moveTo>
                <a:lnTo>
                  <a:pt x="0" y="131147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311478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5706" y="6722308"/>
            <a:ext cx="20080605" cy="510540"/>
          </a:xfrm>
          <a:custGeom>
            <a:avLst/>
            <a:gdLst/>
            <a:ahLst/>
            <a:cxnLst/>
            <a:rect l="l" t="t" r="r" b="b"/>
            <a:pathLst>
              <a:path w="20080605" h="510540">
                <a:moveTo>
                  <a:pt x="20080541" y="510455"/>
                </a:moveTo>
                <a:lnTo>
                  <a:pt x="0" y="51045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10455"/>
                </a:lnTo>
                <a:close/>
              </a:path>
            </a:pathLst>
          </a:custGeom>
          <a:solidFill>
            <a:srgbClr val="010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5706" y="7366268"/>
            <a:ext cx="20080605" cy="558165"/>
          </a:xfrm>
          <a:custGeom>
            <a:avLst/>
            <a:gdLst/>
            <a:ahLst/>
            <a:cxnLst/>
            <a:rect l="l" t="t" r="r" b="b"/>
            <a:pathLst>
              <a:path w="20080605" h="558165">
                <a:moveTo>
                  <a:pt x="20080541" y="557574"/>
                </a:moveTo>
                <a:lnTo>
                  <a:pt x="0" y="55757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57574"/>
                </a:lnTo>
                <a:close/>
              </a:path>
            </a:pathLst>
          </a:custGeom>
          <a:solidFill>
            <a:srgbClr val="0105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458780" y="4527082"/>
            <a:ext cx="7712075" cy="31991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38100">
              <a:lnSpc>
                <a:spcPct val="100000"/>
              </a:lnSpc>
              <a:spcBef>
                <a:spcPts val="110"/>
              </a:spcBef>
            </a:pPr>
            <a:r>
              <a:rPr dirty="0" sz="2950" spc="140">
                <a:solidFill>
                  <a:srgbClr val="FFFFFF"/>
                </a:solidFill>
                <a:latin typeface="Arial MT"/>
                <a:cs typeface="Arial MT"/>
              </a:rPr>
              <a:t>Conceptos</a:t>
            </a:r>
            <a:r>
              <a:rPr dirty="0" sz="29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90">
                <a:solidFill>
                  <a:srgbClr val="FFFFFF"/>
                </a:solidFill>
                <a:latin typeface="Arial MT"/>
                <a:cs typeface="Arial MT"/>
              </a:rPr>
              <a:t>Básicos</a:t>
            </a:r>
            <a:endParaRPr sz="2950">
              <a:latin typeface="Arial MT"/>
              <a:cs typeface="Arial MT"/>
            </a:endParaRPr>
          </a:p>
          <a:p>
            <a:pPr algn="ctr" marL="17780" marR="5080">
              <a:lnSpc>
                <a:spcPct val="121500"/>
              </a:lnSpc>
              <a:spcBef>
                <a:spcPts val="2380"/>
              </a:spcBef>
            </a:pPr>
            <a:r>
              <a:rPr dirty="0" sz="2800" spc="-300">
                <a:solidFill>
                  <a:srgbClr val="DBDBDB"/>
                </a:solidFill>
                <a:latin typeface="Arial MT"/>
                <a:cs typeface="Arial MT"/>
              </a:rPr>
              <a:t>A</a:t>
            </a:r>
            <a:r>
              <a:rPr dirty="0" sz="2800" spc="2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800" spc="-65">
                <a:solidFill>
                  <a:srgbClr val="E1E1E1"/>
                </a:solidFill>
                <a:latin typeface="Arial MT"/>
                <a:cs typeface="Arial MT"/>
              </a:rPr>
              <a:t>diferencia</a:t>
            </a:r>
            <a:r>
              <a:rPr dirty="0" sz="2800" spc="-13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800" spc="-50">
                <a:solidFill>
                  <a:srgbClr val="DBDBDB"/>
                </a:solidFill>
                <a:latin typeface="Arial MT"/>
                <a:cs typeface="Arial MT"/>
              </a:rPr>
              <a:t>de</a:t>
            </a:r>
            <a:r>
              <a:rPr dirty="0" sz="2800" spc="-15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800" spc="-85">
                <a:solidFill>
                  <a:srgbClr val="DDDDDD"/>
                </a:solidFill>
                <a:latin typeface="Arial MT"/>
                <a:cs typeface="Arial MT"/>
              </a:rPr>
              <a:t>la</a:t>
            </a:r>
            <a:r>
              <a:rPr dirty="0" sz="2800" spc="-11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800" spc="-75">
                <a:solidFill>
                  <a:srgbClr val="E6E6E6"/>
                </a:solidFill>
                <a:latin typeface="Arial MT"/>
                <a:cs typeface="Arial MT"/>
              </a:rPr>
              <a:t>lógico</a:t>
            </a:r>
            <a:r>
              <a:rPr dirty="0" sz="2800" spc="-12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800" spc="-60">
                <a:solidFill>
                  <a:srgbClr val="E2E2E2"/>
                </a:solidFill>
                <a:latin typeface="Arial MT"/>
                <a:cs typeface="Arial MT"/>
              </a:rPr>
              <a:t>booleano</a:t>
            </a:r>
            <a:r>
              <a:rPr dirty="0" sz="2800" spc="-1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DADADA"/>
                </a:solidFill>
                <a:latin typeface="Arial MT"/>
                <a:cs typeface="Arial MT"/>
              </a:rPr>
              <a:t>(0</a:t>
            </a:r>
            <a:r>
              <a:rPr dirty="0" sz="2800" spc="-185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800" spc="-125">
                <a:solidFill>
                  <a:srgbClr val="E2E2E2"/>
                </a:solidFill>
                <a:latin typeface="Arial MT"/>
                <a:cs typeface="Arial MT"/>
              </a:rPr>
              <a:t>o</a:t>
            </a:r>
            <a:r>
              <a:rPr dirty="0" sz="2800" spc="-34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800" spc="-375">
                <a:solidFill>
                  <a:srgbClr val="DBDBDB"/>
                </a:solidFill>
                <a:latin typeface="Arial MT"/>
                <a:cs typeface="Arial MT"/>
              </a:rPr>
              <a:t>1),</a:t>
            </a:r>
            <a:r>
              <a:rPr dirty="0" sz="2800" spc="-6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E6E6E6"/>
                </a:solidFill>
                <a:latin typeface="Arial MT"/>
                <a:cs typeface="Arial MT"/>
              </a:rPr>
              <a:t>manejo</a:t>
            </a:r>
            <a:r>
              <a:rPr dirty="0" sz="2800" spc="-10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DFDFDF"/>
                </a:solidFill>
                <a:latin typeface="Arial MT"/>
                <a:cs typeface="Arial MT"/>
              </a:rPr>
              <a:t>el </a:t>
            </a:r>
            <a:r>
              <a:rPr dirty="0" sz="2800" spc="-35">
                <a:solidFill>
                  <a:srgbClr val="E2E2E2"/>
                </a:solidFill>
                <a:latin typeface="Arial MT"/>
                <a:cs typeface="Arial MT"/>
              </a:rPr>
              <a:t>concepto</a:t>
            </a:r>
            <a:r>
              <a:rPr dirty="0" sz="2800" spc="-11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800" spc="-55">
                <a:solidFill>
                  <a:srgbClr val="E4E4E4"/>
                </a:solidFill>
                <a:latin typeface="Arial MT"/>
                <a:cs typeface="Arial MT"/>
              </a:rPr>
              <a:t>de</a:t>
            </a:r>
            <a:r>
              <a:rPr dirty="0" sz="2800" spc="-14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800" spc="-55">
                <a:solidFill>
                  <a:srgbClr val="1FE6EB"/>
                </a:solidFill>
                <a:latin typeface="Arial MT"/>
                <a:cs typeface="Arial MT"/>
              </a:rPr>
              <a:t>“grados</a:t>
            </a:r>
            <a:r>
              <a:rPr dirty="0" sz="2800" spc="-5">
                <a:solidFill>
                  <a:srgbClr val="1FE6EB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42D6E2"/>
                </a:solidFill>
                <a:latin typeface="Arial MT"/>
                <a:cs typeface="Arial MT"/>
              </a:rPr>
              <a:t>de</a:t>
            </a:r>
            <a:r>
              <a:rPr dirty="0" sz="2800" spc="-150">
                <a:solidFill>
                  <a:srgbClr val="42D6E2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00525D"/>
                </a:solidFill>
                <a:latin typeface="Arial MT"/>
                <a:cs typeface="Arial MT"/>
              </a:rPr>
              <a:t>verdad"</a:t>
            </a:r>
            <a:endParaRPr sz="2800">
              <a:latin typeface="Arial MT"/>
              <a:cs typeface="Arial MT"/>
            </a:endParaRPr>
          </a:p>
          <a:p>
            <a:pPr algn="ctr" marL="12065" marR="42545">
              <a:lnSpc>
                <a:spcPct val="121500"/>
              </a:lnSpc>
              <a:spcBef>
                <a:spcPts val="2720"/>
              </a:spcBef>
            </a:pPr>
            <a:r>
              <a:rPr dirty="0" sz="2800" spc="-330">
                <a:solidFill>
                  <a:srgbClr val="DBDBDB"/>
                </a:solidFill>
                <a:latin typeface="Arial MT"/>
                <a:cs typeface="Arial MT"/>
              </a:rPr>
              <a:t>Es</a:t>
            </a:r>
            <a:r>
              <a:rPr dirty="0" sz="2800" spc="-14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800" spc="-75">
                <a:solidFill>
                  <a:srgbClr val="E1E1E1"/>
                </a:solidFill>
                <a:latin typeface="Arial MT"/>
                <a:cs typeface="Arial MT"/>
              </a:rPr>
              <a:t>ideal</a:t>
            </a:r>
            <a:r>
              <a:rPr dirty="0" sz="2800" spc="-12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1E1E1"/>
                </a:solidFill>
                <a:latin typeface="Arial MT"/>
                <a:cs typeface="Arial MT"/>
              </a:rPr>
              <a:t>para</a:t>
            </a:r>
            <a:r>
              <a:rPr dirty="0" sz="2800" spc="-19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800" spc="-55">
                <a:solidFill>
                  <a:srgbClr val="E1E1E1"/>
                </a:solidFill>
                <a:latin typeface="Arial MT"/>
                <a:cs typeface="Arial MT"/>
              </a:rPr>
              <a:t>representar</a:t>
            </a:r>
            <a:r>
              <a:rPr dirty="0" sz="2800" spc="-10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800" spc="-130">
                <a:solidFill>
                  <a:srgbClr val="E1E1E1"/>
                </a:solidFill>
                <a:latin typeface="Arial MT"/>
                <a:cs typeface="Arial MT"/>
              </a:rPr>
              <a:t>el</a:t>
            </a:r>
            <a:r>
              <a:rPr dirty="0" sz="2800" spc="-16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800" spc="-40">
                <a:solidFill>
                  <a:srgbClr val="E2E2E2"/>
                </a:solidFill>
                <a:latin typeface="Arial MT"/>
                <a:cs typeface="Arial MT"/>
              </a:rPr>
              <a:t>razonamiento</a:t>
            </a:r>
            <a:r>
              <a:rPr dirty="0" sz="2800" spc="5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E6E6E6"/>
                </a:solidFill>
                <a:latin typeface="Arial MT"/>
                <a:cs typeface="Arial MT"/>
              </a:rPr>
              <a:t>humono </a:t>
            </a:r>
            <a:r>
              <a:rPr dirty="0" sz="2800" spc="-10">
                <a:solidFill>
                  <a:srgbClr val="E8E8E8"/>
                </a:solidFill>
                <a:latin typeface="Arial MT"/>
                <a:cs typeface="Arial MT"/>
              </a:rPr>
              <a:t>aproximado.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411613" y="4959006"/>
            <a:ext cx="5944235" cy="2971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89280" algn="l"/>
              </a:tabLst>
            </a:pPr>
            <a:r>
              <a:rPr dirty="0" sz="2950" spc="-50">
                <a:solidFill>
                  <a:srgbClr val="01EFFF"/>
                </a:solidFill>
                <a:latin typeface="Arial MT"/>
                <a:cs typeface="Arial MT"/>
              </a:rPr>
              <a:t>@</a:t>
            </a:r>
            <a:r>
              <a:rPr dirty="0" sz="2950">
                <a:solidFill>
                  <a:srgbClr val="01EFFF"/>
                </a:solidFill>
                <a:latin typeface="Arial MT"/>
                <a:cs typeface="Arial MT"/>
              </a:rPr>
              <a:t>	</a:t>
            </a:r>
            <a:r>
              <a:rPr dirty="0" sz="2950" spc="-190">
                <a:solidFill>
                  <a:srgbClr val="E4E4E4"/>
                </a:solidFill>
                <a:latin typeface="Arial MT"/>
                <a:cs typeface="Arial MT"/>
              </a:rPr>
              <a:t>Sistemas</a:t>
            </a:r>
            <a:r>
              <a:rPr dirty="0" sz="2950" spc="-7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950" spc="-125">
                <a:solidFill>
                  <a:srgbClr val="D8D8D8"/>
                </a:solidFill>
                <a:latin typeface="Arial MT"/>
                <a:cs typeface="Arial MT"/>
              </a:rPr>
              <a:t>de</a:t>
            </a:r>
            <a:r>
              <a:rPr dirty="0" sz="2950" spc="-16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950" spc="-100">
                <a:solidFill>
                  <a:srgbClr val="DDDDDD"/>
                </a:solidFill>
                <a:latin typeface="Arial MT"/>
                <a:cs typeface="Arial MT"/>
              </a:rPr>
              <a:t>frenado</a:t>
            </a:r>
            <a:r>
              <a:rPr dirty="0" sz="2950" spc="-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950" spc="-315">
                <a:solidFill>
                  <a:srgbClr val="DDDDDD"/>
                </a:solidFill>
                <a:latin typeface="Arial MT"/>
                <a:cs typeface="Arial MT"/>
              </a:rPr>
              <a:t>ABS.</a:t>
            </a:r>
            <a:endParaRPr sz="2950">
              <a:latin typeface="Arial MT"/>
              <a:cs typeface="Arial MT"/>
            </a:endParaRPr>
          </a:p>
          <a:p>
            <a:pPr marL="13335" marR="5080" indent="635">
              <a:lnSpc>
                <a:spcPct val="197100"/>
              </a:lnSpc>
              <a:spcBef>
                <a:spcPts val="120"/>
              </a:spcBef>
              <a:tabLst>
                <a:tab pos="577215" algn="l"/>
              </a:tabLst>
            </a:pPr>
            <a:r>
              <a:rPr dirty="0" sz="2700" spc="140">
                <a:solidFill>
                  <a:srgbClr val="00F4FD"/>
                </a:solidFill>
                <a:latin typeface="Arial MT"/>
                <a:cs typeface="Arial MT"/>
              </a:rPr>
              <a:t>@</a:t>
            </a:r>
            <a:r>
              <a:rPr dirty="0" sz="2700">
                <a:solidFill>
                  <a:srgbClr val="00F4FD"/>
                </a:solidFill>
                <a:latin typeface="Arial MT"/>
                <a:cs typeface="Arial MT"/>
              </a:rPr>
              <a:t>	</a:t>
            </a:r>
            <a:r>
              <a:rPr dirty="0" sz="2700" spc="-730">
                <a:solidFill>
                  <a:srgbClr val="00F4FD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2E2E2"/>
                </a:solidFill>
                <a:latin typeface="Arial MT"/>
                <a:cs typeface="Arial MT"/>
              </a:rPr>
              <a:t>Control</a:t>
            </a:r>
            <a:r>
              <a:rPr dirty="0" sz="2700" spc="-5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ADADA"/>
                </a:solidFill>
                <a:latin typeface="Arial MT"/>
                <a:cs typeface="Arial MT"/>
              </a:rPr>
              <a:t>de</a:t>
            </a:r>
            <a:r>
              <a:rPr dirty="0" sz="2700" spc="-185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2E2E2"/>
                </a:solidFill>
                <a:latin typeface="Arial MT"/>
                <a:cs typeface="Arial MT"/>
              </a:rPr>
              <a:t>climatización</a:t>
            </a:r>
            <a:r>
              <a:rPr dirty="0" sz="2700" spc="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DFDFDF"/>
                </a:solidFill>
                <a:latin typeface="Arial MT"/>
                <a:cs typeface="Arial MT"/>
              </a:rPr>
              <a:t>inteligente. </a:t>
            </a:r>
            <a:r>
              <a:rPr dirty="0" sz="2800" spc="35">
                <a:solidFill>
                  <a:srgbClr val="00F6EF"/>
                </a:solidFill>
                <a:latin typeface="Arial MT"/>
                <a:cs typeface="Arial MT"/>
              </a:rPr>
              <a:t>@</a:t>
            </a:r>
            <a:r>
              <a:rPr dirty="0" sz="2800">
                <a:solidFill>
                  <a:srgbClr val="00F6EF"/>
                </a:solidFill>
                <a:latin typeface="Arial MT"/>
                <a:cs typeface="Arial MT"/>
              </a:rPr>
              <a:t>	</a:t>
            </a:r>
            <a:r>
              <a:rPr dirty="0" sz="2800" spc="-125">
                <a:solidFill>
                  <a:srgbClr val="E2E2E2"/>
                </a:solidFill>
                <a:latin typeface="Arial MT"/>
                <a:cs typeface="Arial MT"/>
              </a:rPr>
              <a:t>Enfoque</a:t>
            </a:r>
            <a:r>
              <a:rPr dirty="0" sz="2800" spc="-7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DBDBDB"/>
                </a:solidFill>
                <a:latin typeface="Arial MT"/>
                <a:cs typeface="Arial MT"/>
              </a:rPr>
              <a:t>outomótico</a:t>
            </a:r>
            <a:r>
              <a:rPr dirty="0" sz="2800" spc="-6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800" spc="-120">
                <a:solidFill>
                  <a:srgbClr val="D8D8D8"/>
                </a:solidFill>
                <a:latin typeface="Arial MT"/>
                <a:cs typeface="Arial MT"/>
              </a:rPr>
              <a:t>en</a:t>
            </a:r>
            <a:r>
              <a:rPr dirty="0" sz="2800" spc="-130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E6E6E6"/>
                </a:solidFill>
                <a:latin typeface="Arial MT"/>
                <a:cs typeface="Arial MT"/>
              </a:rPr>
              <a:t>cómaras. </a:t>
            </a:r>
            <a:r>
              <a:rPr dirty="0" sz="2800" spc="35">
                <a:solidFill>
                  <a:srgbClr val="03EFFD"/>
                </a:solidFill>
                <a:latin typeface="Arial MT"/>
                <a:cs typeface="Arial MT"/>
              </a:rPr>
              <a:t>@</a:t>
            </a:r>
            <a:r>
              <a:rPr dirty="0" sz="2800">
                <a:solidFill>
                  <a:srgbClr val="03EFFD"/>
                </a:solidFill>
                <a:latin typeface="Arial MT"/>
                <a:cs typeface="Arial MT"/>
              </a:rPr>
              <a:t>	</a:t>
            </a:r>
            <a:r>
              <a:rPr dirty="0" sz="2800" spc="-770">
                <a:solidFill>
                  <a:srgbClr val="03EFFD"/>
                </a:solidFill>
                <a:latin typeface="Arial MT"/>
                <a:cs typeface="Arial MT"/>
              </a:rPr>
              <a:t> </a:t>
            </a:r>
            <a:r>
              <a:rPr dirty="0" sz="2800" spc="-85">
                <a:solidFill>
                  <a:srgbClr val="E2E2E2"/>
                </a:solidFill>
                <a:latin typeface="Arial MT"/>
                <a:cs typeface="Arial MT"/>
              </a:rPr>
              <a:t>Gestión</a:t>
            </a:r>
            <a:r>
              <a:rPr dirty="0" sz="2800" spc="-10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DFDFDF"/>
                </a:solidFill>
                <a:latin typeface="Arial MT"/>
                <a:cs typeface="Arial MT"/>
              </a:rPr>
              <a:t>de</a:t>
            </a:r>
            <a:r>
              <a:rPr dirty="0" sz="2800" spc="-13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E4E4E4"/>
                </a:solidFill>
                <a:latin typeface="Arial MT"/>
                <a:cs typeface="Arial MT"/>
              </a:rPr>
              <a:t>trófico</a:t>
            </a:r>
            <a:r>
              <a:rPr dirty="0" sz="2800" spc="-16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E2E2E2"/>
                </a:solidFill>
                <a:latin typeface="Arial MT"/>
                <a:cs typeface="Arial MT"/>
              </a:rPr>
              <a:t>urbano.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019" y="909391"/>
            <a:ext cx="8626475" cy="86995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410209" algn="l"/>
              </a:tabLst>
            </a:pPr>
            <a:r>
              <a:rPr dirty="0" sz="5500" spc="-800">
                <a:solidFill>
                  <a:srgbClr val="0AEDFB"/>
                </a:solidFill>
              </a:rPr>
              <a:t>t</a:t>
            </a:r>
            <a:r>
              <a:rPr dirty="0" sz="5500">
                <a:solidFill>
                  <a:srgbClr val="0AEDFB"/>
                </a:solidFill>
              </a:rPr>
              <a:t>	</a:t>
            </a:r>
            <a:r>
              <a:rPr dirty="0" sz="5500" spc="75"/>
              <a:t>Desarrollos</a:t>
            </a:r>
            <a:r>
              <a:rPr dirty="0" sz="5500" spc="360"/>
              <a:t> </a:t>
            </a:r>
            <a:r>
              <a:rPr dirty="0" sz="5500" spc="130"/>
              <a:t>Actuales</a:t>
            </a:r>
            <a:r>
              <a:rPr dirty="0" sz="5500" spc="225"/>
              <a:t> </a:t>
            </a:r>
            <a:r>
              <a:rPr dirty="0" sz="5500" spc="-355"/>
              <a:t>PLN</a:t>
            </a:r>
            <a:endParaRPr sz="5500"/>
          </a:p>
        </p:txBody>
      </p:sp>
      <p:grpSp>
        <p:nvGrpSpPr>
          <p:cNvPr id="3" name="object 3" descr=""/>
          <p:cNvGrpSpPr/>
          <p:nvPr/>
        </p:nvGrpSpPr>
        <p:grpSpPr>
          <a:xfrm>
            <a:off x="15706" y="4821842"/>
            <a:ext cx="20080605" cy="495300"/>
            <a:chOff x="15706" y="4821842"/>
            <a:chExt cx="20080605" cy="4953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5058" y="4853255"/>
              <a:ext cx="157063" cy="14921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706" y="4821842"/>
              <a:ext cx="20080605" cy="495300"/>
            </a:xfrm>
            <a:custGeom>
              <a:avLst/>
              <a:gdLst/>
              <a:ahLst/>
              <a:cxnLst/>
              <a:rect l="l" t="t" r="r" b="b"/>
              <a:pathLst>
                <a:path w="20080605" h="495300">
                  <a:moveTo>
                    <a:pt x="20080541" y="494749"/>
                  </a:moveTo>
                  <a:lnTo>
                    <a:pt x="0" y="494749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494749"/>
                  </a:lnTo>
                  <a:close/>
                </a:path>
              </a:pathLst>
            </a:custGeom>
            <a:solidFill>
              <a:srgbClr val="00031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15706" y="5528627"/>
            <a:ext cx="20080605" cy="495300"/>
            <a:chOff x="15706" y="5528627"/>
            <a:chExt cx="20080605" cy="49530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9351" y="5560040"/>
              <a:ext cx="298420" cy="31412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5706" y="5528627"/>
              <a:ext cx="20080605" cy="495300"/>
            </a:xfrm>
            <a:custGeom>
              <a:avLst/>
              <a:gdLst/>
              <a:ahLst/>
              <a:cxnLst/>
              <a:rect l="l" t="t" r="r" b="b"/>
              <a:pathLst>
                <a:path w="20080605" h="495300">
                  <a:moveTo>
                    <a:pt x="20080541" y="494749"/>
                  </a:moveTo>
                  <a:lnTo>
                    <a:pt x="0" y="494749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494749"/>
                  </a:lnTo>
                  <a:close/>
                </a:path>
              </a:pathLst>
            </a:custGeom>
            <a:solidFill>
              <a:srgbClr val="0003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41663" y="4885056"/>
            <a:ext cx="2195195" cy="10433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60">
                <a:solidFill>
                  <a:srgbClr val="FFFFFF"/>
                </a:solidFill>
                <a:latin typeface="Arial MT"/>
                <a:cs typeface="Arial MT"/>
              </a:rPr>
              <a:t>Modelos</a:t>
            </a:r>
            <a:r>
              <a:rPr dirty="0" sz="20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50" spc="-100">
                <a:solidFill>
                  <a:srgbClr val="FFFFFF"/>
                </a:solidFill>
                <a:latin typeface="Arial MT"/>
                <a:cs typeface="Arial MT"/>
              </a:rPr>
              <a:t>LLM</a:t>
            </a:r>
            <a:r>
              <a:rPr dirty="0" sz="20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50" spc="-114">
                <a:solidFill>
                  <a:srgbClr val="FFFFFF"/>
                </a:solidFill>
                <a:latin typeface="Arial MT"/>
                <a:cs typeface="Arial MT"/>
              </a:rPr>
              <a:t>(GPT)</a:t>
            </a: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2050">
              <a:latin typeface="Arial MT"/>
              <a:cs typeface="Arial MT"/>
            </a:endParaRPr>
          </a:p>
          <a:p>
            <a:pPr marL="16510">
              <a:lnSpc>
                <a:spcPct val="100000"/>
              </a:lnSpc>
              <a:spcBef>
                <a:spcPts val="5"/>
              </a:spcBef>
            </a:pP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IA</a:t>
            </a:r>
            <a:r>
              <a:rPr dirty="0" sz="19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Generativa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5706" y="6235412"/>
            <a:ext cx="20080605" cy="495300"/>
          </a:xfrm>
          <a:custGeom>
            <a:avLst/>
            <a:gdLst/>
            <a:ahLst/>
            <a:cxnLst/>
            <a:rect l="l" t="t" r="r" b="b"/>
            <a:pathLst>
              <a:path w="20080605" h="495300">
                <a:moveTo>
                  <a:pt x="20080541" y="494749"/>
                </a:moveTo>
                <a:lnTo>
                  <a:pt x="0" y="49474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94749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947487" y="6314987"/>
            <a:ext cx="241681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Traducción</a:t>
            </a:r>
            <a:r>
              <a:rPr dirty="0" sz="190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Arial MT"/>
                <a:cs typeface="Arial MT"/>
              </a:rPr>
              <a:t>Real-Time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80614" y="6314987"/>
            <a:ext cx="4064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365">
                <a:solidFill>
                  <a:srgbClr val="00F2FD"/>
                </a:solidFill>
                <a:latin typeface="Arial MT"/>
                <a:cs typeface="Arial MT"/>
              </a:rPr>
              <a:t>‘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5706" y="7366268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010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2537970" y="7284852"/>
            <a:ext cx="1493901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18815" algn="l"/>
                <a:tab pos="3669029" algn="l"/>
              </a:tabLst>
            </a:pPr>
            <a:r>
              <a:rPr dirty="0" sz="2700" spc="-180">
                <a:solidFill>
                  <a:srgbClr val="DFDFDF"/>
                </a:solidFill>
                <a:latin typeface="Arial MT"/>
                <a:cs typeface="Arial MT"/>
              </a:rPr>
              <a:t>Los</a:t>
            </a:r>
            <a:r>
              <a:rPr dirty="0" sz="2700" spc="-14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0CDFDA"/>
                </a:solidFill>
                <a:latin typeface="Arial MT"/>
                <a:cs typeface="Arial MT"/>
              </a:rPr>
              <a:t>Large</a:t>
            </a:r>
            <a:r>
              <a:rPr dirty="0" sz="2700" spc="-130">
                <a:solidFill>
                  <a:srgbClr val="0CDFDA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23A1B3"/>
                </a:solidFill>
                <a:latin typeface="Arial MT"/>
                <a:cs typeface="Arial MT"/>
              </a:rPr>
              <a:t>Lcin%»uge</a:t>
            </a:r>
            <a:r>
              <a:rPr dirty="0" sz="2700">
                <a:solidFill>
                  <a:srgbClr val="23A1B3"/>
                </a:solidFill>
                <a:latin typeface="Arial MT"/>
                <a:cs typeface="Arial MT"/>
              </a:rPr>
              <a:t>	</a:t>
            </a:r>
            <a:r>
              <a:rPr dirty="0" sz="2700" spc="-25">
                <a:solidFill>
                  <a:srgbClr val="00A399"/>
                </a:solidFill>
                <a:latin typeface="Arial MT"/>
                <a:cs typeface="Arial MT"/>
              </a:rPr>
              <a:t>?\</a:t>
            </a:r>
            <a:r>
              <a:rPr dirty="0" sz="2700">
                <a:solidFill>
                  <a:srgbClr val="00A399"/>
                </a:solidFill>
                <a:latin typeface="Arial MT"/>
                <a:cs typeface="Arial MT"/>
              </a:rPr>
              <a:t>	</a:t>
            </a:r>
            <a:r>
              <a:rPr dirty="0" sz="2700" spc="-235">
                <a:solidFill>
                  <a:srgbClr val="00A399"/>
                </a:solidFill>
                <a:latin typeface="Arial MT"/>
                <a:cs typeface="Arial MT"/>
              </a:rPr>
              <a:t>%eis</a:t>
            </a:r>
            <a:r>
              <a:rPr dirty="0" sz="2700" spc="45">
                <a:solidFill>
                  <a:srgbClr val="00A399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BDBDB"/>
                </a:solidFill>
                <a:latin typeface="Arial MT"/>
                <a:cs typeface="Arial MT"/>
              </a:rPr>
              <a:t>han</a:t>
            </a:r>
            <a:r>
              <a:rPr dirty="0" sz="2700" spc="-18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700" spc="-50">
                <a:solidFill>
                  <a:srgbClr val="E8E8E8"/>
                </a:solidFill>
                <a:latin typeface="Arial MT"/>
                <a:cs typeface="Arial MT"/>
              </a:rPr>
              <a:t>revolucionado</a:t>
            </a:r>
            <a:r>
              <a:rPr dirty="0" sz="2700" spc="-6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6D6D6"/>
                </a:solidFill>
                <a:latin typeface="Arial MT"/>
                <a:cs typeface="Arial MT"/>
              </a:rPr>
              <a:t>la</a:t>
            </a:r>
            <a:r>
              <a:rPr dirty="0" sz="2700" spc="-15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E2E2E2"/>
                </a:solidFill>
                <a:latin typeface="Arial MT"/>
                <a:cs typeface="Arial MT"/>
              </a:rPr>
              <a:t>creación</a:t>
            </a:r>
            <a:r>
              <a:rPr dirty="0" sz="2700" spc="-9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8D8D8"/>
                </a:solidFill>
                <a:latin typeface="Arial MT"/>
                <a:cs typeface="Arial MT"/>
              </a:rPr>
              <a:t>de</a:t>
            </a:r>
            <a:r>
              <a:rPr dirty="0" sz="2700" spc="-18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8E8E8"/>
                </a:solidFill>
                <a:latin typeface="Arial MT"/>
                <a:cs typeface="Arial MT"/>
              </a:rPr>
              <a:t>contenido</a:t>
            </a:r>
            <a:r>
              <a:rPr dirty="0" sz="2700" spc="7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700" spc="-150">
                <a:solidFill>
                  <a:srgbClr val="DFDFDF"/>
                </a:solidFill>
                <a:latin typeface="Arial MT"/>
                <a:cs typeface="Arial MT"/>
              </a:rPr>
              <a:t>y</a:t>
            </a:r>
            <a:r>
              <a:rPr dirty="0" sz="2700" spc="-4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6D6D6"/>
                </a:solidFill>
                <a:latin typeface="Arial MT"/>
                <a:cs typeface="Arial MT"/>
              </a:rPr>
              <a:t>la</a:t>
            </a:r>
            <a:r>
              <a:rPr dirty="0" sz="2700" spc="-16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700" spc="-25">
                <a:solidFill>
                  <a:srgbClr val="E4E4E4"/>
                </a:solidFill>
                <a:latin typeface="Arial MT"/>
                <a:cs typeface="Arial MT"/>
              </a:rPr>
              <a:t>programaciÓn</a:t>
            </a:r>
            <a:r>
              <a:rPr dirty="0" sz="2700" spc="9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E1E1E1"/>
                </a:solidFill>
                <a:latin typeface="Arial MT"/>
                <a:cs typeface="Arial MT"/>
              </a:rPr>
              <a:t>asistida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850" spc="90"/>
              <a:t>4.6.</a:t>
            </a:r>
            <a:r>
              <a:rPr dirty="0" sz="7850" spc="-645"/>
              <a:t> </a:t>
            </a:r>
            <a:r>
              <a:rPr dirty="0" sz="7850"/>
              <a:t>Sistemas</a:t>
            </a:r>
            <a:r>
              <a:rPr dirty="0" sz="7850" spc="-250"/>
              <a:t> </a:t>
            </a:r>
            <a:r>
              <a:rPr dirty="0" sz="7850" spc="75"/>
              <a:t>Expertos</a:t>
            </a:r>
            <a:r>
              <a:rPr dirty="0" sz="7850" spc="-25"/>
              <a:t> </a:t>
            </a:r>
            <a:r>
              <a:rPr dirty="0" sz="7850" spc="-459"/>
              <a:t>(SE)</a:t>
            </a:r>
            <a:endParaRPr sz="7850"/>
          </a:p>
        </p:txBody>
      </p:sp>
      <p:sp>
        <p:nvSpPr>
          <p:cNvPr id="3" name="object 3" descr=""/>
          <p:cNvSpPr/>
          <p:nvPr/>
        </p:nvSpPr>
        <p:spPr>
          <a:xfrm>
            <a:off x="15706" y="6439594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572543" y="6325457"/>
            <a:ext cx="8919210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195">
                <a:solidFill>
                  <a:srgbClr val="E4E4E4"/>
                </a:solidFill>
                <a:latin typeface="Arial MT"/>
                <a:cs typeface="Arial MT"/>
              </a:rPr>
              <a:t>Emulondo</a:t>
            </a:r>
            <a:r>
              <a:rPr dirty="0" sz="2950" spc="6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950" spc="-160">
                <a:solidFill>
                  <a:srgbClr val="DDDDDD"/>
                </a:solidFill>
                <a:latin typeface="Arial MT"/>
                <a:cs typeface="Arial MT"/>
              </a:rPr>
              <a:t>lo</a:t>
            </a:r>
            <a:r>
              <a:rPr dirty="0" sz="2950" spc="-10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950" spc="-90">
                <a:solidFill>
                  <a:srgbClr val="E2E2E2"/>
                </a:solidFill>
                <a:latin typeface="Arial MT"/>
                <a:cs typeface="Arial MT"/>
              </a:rPr>
              <a:t>capacidad</a:t>
            </a:r>
            <a:r>
              <a:rPr dirty="0" sz="2950" spc="-2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950" spc="-125">
                <a:solidFill>
                  <a:srgbClr val="DADADA"/>
                </a:solidFill>
                <a:latin typeface="Arial MT"/>
                <a:cs typeface="Arial MT"/>
              </a:rPr>
              <a:t>de</a:t>
            </a:r>
            <a:r>
              <a:rPr dirty="0" sz="2950" spc="-18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950" spc="-200">
                <a:solidFill>
                  <a:srgbClr val="E2E2E2"/>
                </a:solidFill>
                <a:latin typeface="Arial MT"/>
                <a:cs typeface="Arial MT"/>
              </a:rPr>
              <a:t>decisión</a:t>
            </a:r>
            <a:r>
              <a:rPr dirty="0" sz="2950" spc="-2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950" spc="-125">
                <a:solidFill>
                  <a:srgbClr val="DADADA"/>
                </a:solidFill>
                <a:latin typeface="Arial MT"/>
                <a:cs typeface="Arial MT"/>
              </a:rPr>
              <a:t>de</a:t>
            </a:r>
            <a:r>
              <a:rPr dirty="0" sz="2950" spc="-27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950" spc="-204">
                <a:solidFill>
                  <a:srgbClr val="E1E1E1"/>
                </a:solidFill>
                <a:latin typeface="Arial MT"/>
                <a:cs typeface="Arial MT"/>
              </a:rPr>
              <a:t>un</a:t>
            </a:r>
            <a:r>
              <a:rPr dirty="0" sz="2950" spc="-18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950" spc="-95">
                <a:solidFill>
                  <a:srgbClr val="E4E4E4"/>
                </a:solidFill>
                <a:latin typeface="Arial MT"/>
                <a:cs typeface="Arial MT"/>
              </a:rPr>
              <a:t>experto</a:t>
            </a:r>
            <a:r>
              <a:rPr dirty="0" sz="2950" spc="-2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950" spc="-130">
                <a:solidFill>
                  <a:srgbClr val="E9E9E9"/>
                </a:solidFill>
                <a:latin typeface="Arial MT"/>
                <a:cs typeface="Arial MT"/>
              </a:rPr>
              <a:t>humano.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89498" y="5273399"/>
            <a:ext cx="18188305" cy="0"/>
          </a:xfrm>
          <a:custGeom>
            <a:avLst/>
            <a:gdLst/>
            <a:ahLst/>
            <a:cxnLst/>
            <a:rect l="l" t="t" r="r" b="b"/>
            <a:pathLst>
              <a:path w="18188305" h="0">
                <a:moveTo>
                  <a:pt x="0" y="0"/>
                </a:moveTo>
                <a:lnTo>
                  <a:pt x="18187929" y="0"/>
                </a:lnTo>
              </a:path>
            </a:pathLst>
          </a:custGeom>
          <a:ln w="23559">
            <a:solidFill>
              <a:srgbClr val="00182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5706" y="942379"/>
            <a:ext cx="20080605" cy="903605"/>
          </a:xfrm>
          <a:custGeom>
            <a:avLst/>
            <a:gdLst/>
            <a:ahLst/>
            <a:cxnLst/>
            <a:rect l="l" t="t" r="r" b="b"/>
            <a:pathLst>
              <a:path w="20080605" h="903605">
                <a:moveTo>
                  <a:pt x="20080541" y="903113"/>
                </a:moveTo>
                <a:lnTo>
                  <a:pt x="0" y="90311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03113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97427" y="1064492"/>
            <a:ext cx="53975" cy="929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900" spc="-1140">
                <a:solidFill>
                  <a:srgbClr val="0AEBFF"/>
                </a:solidFill>
                <a:latin typeface="Arial MT"/>
                <a:cs typeface="Arial MT"/>
              </a:rPr>
              <a:t>i</a:t>
            </a:r>
            <a:endParaRPr sz="59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957" rIns="0" bIns="0" rtlCol="0" vert="horz">
            <a:spAutoFit/>
          </a:bodyPr>
          <a:lstStyle/>
          <a:p>
            <a:pPr marL="516255">
              <a:lnSpc>
                <a:spcPct val="100000"/>
              </a:lnSpc>
              <a:spcBef>
                <a:spcPts val="125"/>
              </a:spcBef>
            </a:pPr>
            <a:r>
              <a:rPr dirty="0" sz="5900"/>
              <a:t>Aplicaciones</a:t>
            </a:r>
            <a:r>
              <a:rPr dirty="0" sz="5900" spc="-114"/>
              <a:t> </a:t>
            </a:r>
            <a:r>
              <a:rPr dirty="0" sz="5900" spc="-45"/>
              <a:t>de</a:t>
            </a:r>
            <a:r>
              <a:rPr dirty="0" sz="5900" spc="-365"/>
              <a:t> </a:t>
            </a:r>
            <a:r>
              <a:rPr dirty="0" sz="5900" spc="-819"/>
              <a:t>SE</a:t>
            </a:r>
            <a:endParaRPr sz="5900"/>
          </a:p>
        </p:txBody>
      </p:sp>
      <p:sp>
        <p:nvSpPr>
          <p:cNvPr id="6" name="object 6" descr=""/>
          <p:cNvSpPr/>
          <p:nvPr/>
        </p:nvSpPr>
        <p:spPr>
          <a:xfrm>
            <a:off x="15706" y="4790430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86398" y="4745008"/>
            <a:ext cx="7537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5">
                <a:solidFill>
                  <a:srgbClr val="16CFBF"/>
                </a:solidFill>
                <a:latin typeface="Arial MT"/>
                <a:cs typeface="Arial MT"/>
              </a:rPr>
              <a:t>Sector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385432" y="4728647"/>
            <a:ext cx="243840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1FC6BA"/>
                </a:solidFill>
                <a:latin typeface="Arial MT"/>
                <a:cs typeface="Arial MT"/>
              </a:rPr>
              <a:t>Aplicoción</a:t>
            </a:r>
            <a:r>
              <a:rPr dirty="0" sz="1900" spc="15">
                <a:solidFill>
                  <a:srgbClr val="1FC6BA"/>
                </a:solidFill>
                <a:latin typeface="Arial MT"/>
                <a:cs typeface="Arial MT"/>
              </a:rPr>
              <a:t>  </a:t>
            </a:r>
            <a:r>
              <a:rPr dirty="0" sz="1900" spc="40">
                <a:solidFill>
                  <a:srgbClr val="13E6ED"/>
                </a:solidFill>
                <a:latin typeface="Arial MT"/>
                <a:cs typeface="Arial MT"/>
              </a:rPr>
              <a:t>E</a:t>
            </a:r>
            <a:r>
              <a:rPr dirty="0" sz="1900" spc="40">
                <a:solidFill>
                  <a:srgbClr val="31C3C6"/>
                </a:solidFill>
                <a:latin typeface="Arial MT"/>
                <a:cs typeface="Arial MT"/>
              </a:rPr>
              <a:t>specifics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5706" y="5591452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78473" y="5529670"/>
            <a:ext cx="107632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60">
                <a:solidFill>
                  <a:srgbClr val="008093"/>
                </a:solidFill>
                <a:latin typeface="Arial MT"/>
                <a:cs typeface="Arial MT"/>
              </a:rPr>
              <a:t>Medicine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374047" y="5529670"/>
            <a:ext cx="677100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Sistemas</a:t>
            </a:r>
            <a:r>
              <a:rPr dirty="0" sz="190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10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19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diagnóstico</a:t>
            </a:r>
            <a:r>
              <a:rPr dirty="0" sz="1900" spc="3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90">
                <a:solidFill>
                  <a:srgbClr val="FFFFFF"/>
                </a:solidFill>
                <a:latin typeface="Arial MT"/>
                <a:cs typeface="Arial MT"/>
              </a:rPr>
              <a:t>/V\YCIN</a:t>
            </a:r>
            <a:r>
              <a:rPr dirty="0" sz="19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5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dirty="0" sz="1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infecciones</a:t>
            </a:r>
            <a:r>
              <a:rPr dirty="0" sz="1900" spc="22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sanguíneas.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5706" y="6376769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76555" y="6314987"/>
            <a:ext cx="103124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0">
                <a:solidFill>
                  <a:srgbClr val="003B50"/>
                </a:solidFill>
                <a:latin typeface="Arial MT"/>
                <a:cs typeface="Arial MT"/>
              </a:rPr>
              <a:t>Finanzas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365657" y="6314987"/>
            <a:ext cx="624967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Evaluación</a:t>
            </a:r>
            <a:r>
              <a:rPr dirty="0" sz="190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10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19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riesgos</a:t>
            </a:r>
            <a:r>
              <a:rPr dirty="0" sz="19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crediticios</a:t>
            </a:r>
            <a:r>
              <a:rPr dirty="0" sz="190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19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50">
                <a:solidFill>
                  <a:srgbClr val="FFFFFF"/>
                </a:solidFill>
                <a:latin typeface="Arial MT"/>
                <a:cs typeface="Arial MT"/>
              </a:rPr>
              <a:t>detección</a:t>
            </a:r>
            <a:r>
              <a:rPr dirty="0" sz="19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10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fraudes.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5706" y="7162085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10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178710" y="7100303"/>
            <a:ext cx="65024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0">
                <a:solidFill>
                  <a:srgbClr val="08CCBA"/>
                </a:solidFill>
                <a:latin typeface="Arial MT"/>
                <a:cs typeface="Arial MT"/>
              </a:rPr>
              <a:t>Legal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385432" y="7100303"/>
            <a:ext cx="523430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Asesoramiento</a:t>
            </a:r>
            <a:r>
              <a:rPr dirty="0" sz="1900" spc="2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en</a:t>
            </a:r>
            <a:r>
              <a:rPr dirty="0" sz="19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normativas</a:t>
            </a:r>
            <a:r>
              <a:rPr dirty="0" sz="1900" spc="3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1900" spc="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jurisprudencia.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5706" y="7947401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305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184497" y="7901980"/>
            <a:ext cx="10509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90">
                <a:solidFill>
                  <a:srgbClr val="2DDBFD"/>
                </a:solidFill>
                <a:latin typeface="Arial MT"/>
                <a:cs typeface="Arial MT"/>
              </a:rPr>
              <a:t>Geolog</a:t>
            </a:r>
            <a:r>
              <a:rPr dirty="0" sz="1800" spc="90">
                <a:solidFill>
                  <a:srgbClr val="006D7B"/>
                </a:solidFill>
                <a:latin typeface="Arial MT"/>
                <a:cs typeface="Arial MT"/>
              </a:rPr>
              <a:t>io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362182" y="7885619"/>
            <a:ext cx="617474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20">
                <a:solidFill>
                  <a:srgbClr val="FFFFFF"/>
                </a:solidFill>
                <a:latin typeface="Arial MT"/>
                <a:cs typeface="Arial MT"/>
              </a:rPr>
              <a:t>Identificación</a:t>
            </a:r>
            <a:r>
              <a:rPr dirty="0" sz="19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100">
                <a:solidFill>
                  <a:srgbClr val="FFEDF0"/>
                </a:solidFill>
                <a:latin typeface="Arial MT"/>
                <a:cs typeface="Arial MT"/>
              </a:rPr>
              <a:t>de</a:t>
            </a:r>
            <a:r>
              <a:rPr dirty="0" sz="1900" spc="75">
                <a:solidFill>
                  <a:srgbClr val="FFEDF0"/>
                </a:solidFill>
                <a:latin typeface="Arial MT"/>
                <a:cs typeface="Arial MT"/>
              </a:rPr>
              <a:t> </a:t>
            </a:r>
            <a:r>
              <a:rPr dirty="0" sz="1900" spc="20">
                <a:solidFill>
                  <a:srgbClr val="FFFFFF"/>
                </a:solidFill>
                <a:latin typeface="Arial MT"/>
                <a:cs typeface="Arial MT"/>
              </a:rPr>
              <a:t>yacimientos</a:t>
            </a:r>
            <a:r>
              <a:rPr dirty="0" sz="1900" spc="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20">
                <a:solidFill>
                  <a:srgbClr val="FFFFFF"/>
                </a:solidFill>
                <a:latin typeface="Arial MT"/>
                <a:cs typeface="Arial MT"/>
              </a:rPr>
              <a:t>minerales</a:t>
            </a:r>
            <a:r>
              <a:rPr dirty="0" sz="1900" spc="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20">
                <a:solidFill>
                  <a:srgbClr val="FFFFFF"/>
                </a:solidFill>
                <a:latin typeface="Arial MT"/>
                <a:cs typeface="Arial MT"/>
              </a:rPr>
              <a:t>(PROSPECTOR).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508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95"/>
              </a:spcBef>
              <a:tabLst>
                <a:tab pos="494030" algn="l"/>
              </a:tabLst>
            </a:pPr>
            <a:r>
              <a:rPr dirty="0" sz="5800" spc="-890">
                <a:solidFill>
                  <a:srgbClr val="0AEDFB"/>
                </a:solidFill>
              </a:rPr>
              <a:t>t</a:t>
            </a:r>
            <a:r>
              <a:rPr dirty="0" sz="5800">
                <a:solidFill>
                  <a:srgbClr val="0AEDFB"/>
                </a:solidFill>
              </a:rPr>
              <a:t>	</a:t>
            </a:r>
            <a:r>
              <a:rPr dirty="0" sz="5800"/>
              <a:t>Conclusión:</a:t>
            </a:r>
            <a:r>
              <a:rPr dirty="0" sz="5800" spc="-110"/>
              <a:t> </a:t>
            </a:r>
            <a:r>
              <a:rPr dirty="0" sz="5800" spc="-445"/>
              <a:t>El</a:t>
            </a:r>
            <a:r>
              <a:rPr dirty="0" sz="5800" spc="-95"/>
              <a:t> </a:t>
            </a:r>
            <a:r>
              <a:rPr dirty="0" sz="5800" spc="50"/>
              <a:t>Futuro</a:t>
            </a:r>
            <a:r>
              <a:rPr dirty="0" sz="5800" spc="65"/>
              <a:t> </a:t>
            </a:r>
            <a:r>
              <a:rPr dirty="0" sz="5800"/>
              <a:t>de</a:t>
            </a:r>
            <a:r>
              <a:rPr dirty="0" sz="5800" spc="-215"/>
              <a:t> </a:t>
            </a:r>
            <a:r>
              <a:rPr dirty="0" sz="5800" spc="65"/>
              <a:t>la</a:t>
            </a:r>
            <a:r>
              <a:rPr dirty="0" sz="5800" spc="-540"/>
              <a:t> </a:t>
            </a:r>
            <a:r>
              <a:rPr dirty="0" sz="5800" spc="-365"/>
              <a:t>IA</a:t>
            </a:r>
            <a:endParaRPr sz="5800"/>
          </a:p>
        </p:txBody>
      </p:sp>
      <p:grpSp>
        <p:nvGrpSpPr>
          <p:cNvPr id="3" name="object 3" descr=""/>
          <p:cNvGrpSpPr/>
          <p:nvPr/>
        </p:nvGrpSpPr>
        <p:grpSpPr>
          <a:xfrm>
            <a:off x="15706" y="4664779"/>
            <a:ext cx="20080605" cy="1249045"/>
            <a:chOff x="15706" y="4664779"/>
            <a:chExt cx="20080605" cy="124904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81234" y="4892521"/>
              <a:ext cx="620399" cy="6203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939" y="5528627"/>
              <a:ext cx="329832" cy="17276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7351" y="5709250"/>
              <a:ext cx="298420" cy="157063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5706" y="4664779"/>
              <a:ext cx="20080605" cy="1249045"/>
            </a:xfrm>
            <a:custGeom>
              <a:avLst/>
              <a:gdLst/>
              <a:ahLst/>
              <a:cxnLst/>
              <a:rect l="l" t="t" r="r" b="b"/>
              <a:pathLst>
                <a:path w="20080605" h="1249045">
                  <a:moveTo>
                    <a:pt x="20080541" y="1248653"/>
                  </a:moveTo>
                  <a:lnTo>
                    <a:pt x="0" y="1248653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1248653"/>
                  </a:lnTo>
                  <a:close/>
                </a:path>
              </a:pathLst>
            </a:custGeom>
            <a:solidFill>
              <a:srgbClr val="0003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15706" y="6031229"/>
            <a:ext cx="20080605" cy="903605"/>
          </a:xfrm>
          <a:custGeom>
            <a:avLst/>
            <a:gdLst/>
            <a:ahLst/>
            <a:cxnLst/>
            <a:rect l="l" t="t" r="r" b="b"/>
            <a:pathLst>
              <a:path w="20080605" h="903604">
                <a:moveTo>
                  <a:pt x="20080541" y="903113"/>
                </a:moveTo>
                <a:lnTo>
                  <a:pt x="0" y="90311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03113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995826" y="5843796"/>
            <a:ext cx="7591425" cy="1062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94030" marR="5080" indent="-481965">
              <a:lnSpc>
                <a:spcPct val="126000"/>
              </a:lnSpc>
              <a:spcBef>
                <a:spcPts val="95"/>
              </a:spcBef>
            </a:pPr>
            <a:r>
              <a:rPr dirty="0" sz="2700" spc="-90">
                <a:solidFill>
                  <a:srgbClr val="DFDFDF"/>
                </a:solidFill>
                <a:latin typeface="Arial MT"/>
                <a:cs typeface="Arial MT"/>
              </a:rPr>
              <a:t>La</a:t>
            </a:r>
            <a:r>
              <a:rPr dirty="0" sz="2700" spc="-10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700" spc="-25">
                <a:solidFill>
                  <a:srgbClr val="E4E4E4"/>
                </a:solidFill>
                <a:latin typeface="Arial MT"/>
                <a:cs typeface="Arial MT"/>
              </a:rPr>
              <a:t>convergencia</a:t>
            </a:r>
            <a:r>
              <a:rPr dirty="0" sz="2700" spc="6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1E1E1"/>
                </a:solidFill>
                <a:latin typeface="Arial MT"/>
                <a:cs typeface="Arial MT"/>
              </a:rPr>
              <a:t>de</a:t>
            </a:r>
            <a:r>
              <a:rPr dirty="0" sz="2700" spc="-18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DDDDDD"/>
                </a:solidFill>
                <a:latin typeface="Arial MT"/>
                <a:cs typeface="Arial MT"/>
              </a:rPr>
              <a:t>estas</a:t>
            </a:r>
            <a:r>
              <a:rPr dirty="0" sz="2700" spc="-9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E2E2E2"/>
                </a:solidFill>
                <a:latin typeface="Arial MT"/>
                <a:cs typeface="Arial MT"/>
              </a:rPr>
              <a:t>tócnicas</a:t>
            </a:r>
            <a:r>
              <a:rPr dirty="0" sz="2700" spc="-114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BDBDB"/>
                </a:solidFill>
                <a:latin typeface="Arial MT"/>
                <a:cs typeface="Arial MT"/>
              </a:rPr>
              <a:t>estó</a:t>
            </a:r>
            <a:r>
              <a:rPr dirty="0" sz="2700" spc="-11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2E2E2"/>
                </a:solidFill>
                <a:latin typeface="Arial MT"/>
                <a:cs typeface="Arial MT"/>
              </a:rPr>
              <a:t>creando</a:t>
            </a:r>
            <a:r>
              <a:rPr dirty="0" sz="2700" spc="-3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700" spc="-25">
                <a:solidFill>
                  <a:srgbClr val="DFDFDF"/>
                </a:solidFill>
                <a:latin typeface="Arial MT"/>
                <a:cs typeface="Arial MT"/>
              </a:rPr>
              <a:t>la </a:t>
            </a:r>
            <a:r>
              <a:rPr dirty="0" sz="2700">
                <a:solidFill>
                  <a:srgbClr val="E4E4E4"/>
                </a:solidFill>
                <a:latin typeface="Arial MT"/>
                <a:cs typeface="Arial MT"/>
              </a:rPr>
              <a:t>próxima</a:t>
            </a:r>
            <a:r>
              <a:rPr dirty="0" sz="2700" spc="-7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DFDFDF"/>
                </a:solidFill>
                <a:latin typeface="Arial MT"/>
                <a:cs typeface="Arial MT"/>
              </a:rPr>
              <a:t>generación </a:t>
            </a:r>
            <a:r>
              <a:rPr dirty="0" sz="2700">
                <a:solidFill>
                  <a:srgbClr val="DFDFDF"/>
                </a:solidFill>
                <a:latin typeface="Arial MT"/>
                <a:cs typeface="Arial MT"/>
              </a:rPr>
              <a:t>de</a:t>
            </a:r>
            <a:r>
              <a:rPr dirty="0" sz="2700" spc="-19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E2E2E2"/>
                </a:solidFill>
                <a:latin typeface="Arial MT"/>
                <a:cs typeface="Arial MT"/>
              </a:rPr>
              <a:t>Inteligencia</a:t>
            </a:r>
            <a:r>
              <a:rPr dirty="0" sz="2700" spc="19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DDDDDD"/>
                </a:solidFill>
                <a:latin typeface="Arial MT"/>
                <a:cs typeface="Arial MT"/>
              </a:rPr>
              <a:t>Artificial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5706" y="7067847"/>
            <a:ext cx="20080605" cy="510540"/>
          </a:xfrm>
          <a:custGeom>
            <a:avLst/>
            <a:gdLst/>
            <a:ahLst/>
            <a:cxnLst/>
            <a:rect l="l" t="t" r="r" b="b"/>
            <a:pathLst>
              <a:path w="20080605" h="510540">
                <a:moveTo>
                  <a:pt x="20080541" y="510455"/>
                </a:moveTo>
                <a:lnTo>
                  <a:pt x="0" y="51045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10455"/>
                </a:lnTo>
                <a:close/>
              </a:path>
            </a:pathLst>
          </a:custGeom>
          <a:solidFill>
            <a:srgbClr val="010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105"/>
              </a:spcBef>
            </a:pPr>
            <a:r>
              <a:rPr dirty="0" spc="-130">
                <a:solidFill>
                  <a:srgbClr val="DBDBDB"/>
                </a:solidFill>
              </a:rPr>
              <a:t>Las</a:t>
            </a:r>
            <a:r>
              <a:rPr dirty="0" spc="-60">
                <a:solidFill>
                  <a:srgbClr val="DBDBDB"/>
                </a:solidFill>
              </a:rPr>
              <a:t> </a:t>
            </a:r>
            <a:r>
              <a:rPr dirty="0" spc="-10">
                <a:solidFill>
                  <a:srgbClr val="E6E6E6"/>
                </a:solidFill>
              </a:rPr>
              <a:t>tecnicas</a:t>
            </a:r>
            <a:r>
              <a:rPr dirty="0">
                <a:solidFill>
                  <a:srgbClr val="E6E6E6"/>
                </a:solidFill>
              </a:rPr>
              <a:t> </a:t>
            </a:r>
            <a:r>
              <a:rPr dirty="0" spc="-50"/>
              <a:t>revisadas</a:t>
            </a:r>
            <a:r>
              <a:rPr dirty="0" spc="-35"/>
              <a:t> </a:t>
            </a:r>
            <a:r>
              <a:rPr dirty="0">
                <a:solidFill>
                  <a:srgbClr val="DFDFDF"/>
                </a:solidFill>
              </a:rPr>
              <a:t>no</a:t>
            </a:r>
            <a:r>
              <a:rPr dirty="0" spc="-125">
                <a:solidFill>
                  <a:srgbClr val="DFDFDF"/>
                </a:solidFill>
              </a:rPr>
              <a:t> </a:t>
            </a:r>
            <a:r>
              <a:rPr dirty="0"/>
              <a:t>actúan</a:t>
            </a:r>
            <a:r>
              <a:rPr dirty="0" spc="-30"/>
              <a:t> </a:t>
            </a:r>
            <a:r>
              <a:rPr dirty="0">
                <a:solidFill>
                  <a:srgbClr val="E4E4E4"/>
                </a:solidFill>
              </a:rPr>
              <a:t>de</a:t>
            </a:r>
            <a:r>
              <a:rPr dirty="0" spc="-135">
                <a:solidFill>
                  <a:srgbClr val="E4E4E4"/>
                </a:solidFill>
              </a:rPr>
              <a:t> </a:t>
            </a:r>
            <a:r>
              <a:rPr dirty="0" spc="65">
                <a:solidFill>
                  <a:srgbClr val="DDDDDD"/>
                </a:solidFill>
              </a:rPr>
              <a:t>forma</a:t>
            </a:r>
            <a:r>
              <a:rPr dirty="0" spc="-15">
                <a:solidFill>
                  <a:srgbClr val="DDDDDD"/>
                </a:solidFill>
              </a:rPr>
              <a:t> </a:t>
            </a:r>
            <a:r>
              <a:rPr dirty="0" spc="-10"/>
              <a:t>aislada.</a:t>
            </a:r>
          </a:p>
          <a:p>
            <a:pPr>
              <a:lnSpc>
                <a:spcPct val="100000"/>
              </a:lnSpc>
              <a:spcBef>
                <a:spcPts val="355"/>
              </a:spcBef>
            </a:pPr>
          </a:p>
          <a:p>
            <a:pPr marL="575945">
              <a:lnSpc>
                <a:spcPct val="100000"/>
              </a:lnSpc>
              <a:tabLst>
                <a:tab pos="3695065" algn="l"/>
              </a:tabLst>
            </a:pPr>
            <a:r>
              <a:rPr dirty="0" sz="2800" spc="-145">
                <a:solidFill>
                  <a:srgbClr val="E2E2E2"/>
                </a:solidFill>
              </a:rPr>
              <a:t>Robots</a:t>
            </a:r>
            <a:r>
              <a:rPr dirty="0" sz="2800" spc="-25">
                <a:solidFill>
                  <a:srgbClr val="E2E2E2"/>
                </a:solidFill>
              </a:rPr>
              <a:t> </a:t>
            </a:r>
            <a:r>
              <a:rPr dirty="0" sz="2800" spc="-120">
                <a:solidFill>
                  <a:srgbClr val="E1E1E1"/>
                </a:solidFill>
              </a:rPr>
              <a:t>que</a:t>
            </a:r>
            <a:r>
              <a:rPr dirty="0" sz="2800" spc="-190">
                <a:solidFill>
                  <a:srgbClr val="E1E1E1"/>
                </a:solidFill>
              </a:rPr>
              <a:t> </a:t>
            </a:r>
            <a:r>
              <a:rPr dirty="0" sz="2800" spc="-155">
                <a:solidFill>
                  <a:srgbClr val="DFDFDF"/>
                </a:solidFill>
              </a:rPr>
              <a:t>usan</a:t>
            </a:r>
            <a:r>
              <a:rPr dirty="0" sz="2800" spc="-10">
                <a:solidFill>
                  <a:srgbClr val="DFDFDF"/>
                </a:solidFill>
              </a:rPr>
              <a:t> </a:t>
            </a:r>
            <a:r>
              <a:rPr dirty="0" sz="2800" spc="-25">
                <a:solidFill>
                  <a:srgbClr val="080808"/>
                </a:solidFill>
              </a:rPr>
              <a:t>'.</a:t>
            </a:r>
            <a:r>
              <a:rPr dirty="0" sz="2800">
                <a:solidFill>
                  <a:srgbClr val="080808"/>
                </a:solidFill>
              </a:rPr>
              <a:t>	</a:t>
            </a:r>
            <a:r>
              <a:rPr dirty="0" sz="2800" spc="-409">
                <a:solidFill>
                  <a:srgbClr val="21EDE9"/>
                </a:solidFill>
              </a:rPr>
              <a:t>*›:°.</a:t>
            </a:r>
            <a:r>
              <a:rPr dirty="0" sz="2800" spc="-60">
                <a:solidFill>
                  <a:srgbClr val="21EDE9"/>
                </a:solidFill>
              </a:rPr>
              <a:t> </a:t>
            </a:r>
            <a:r>
              <a:rPr dirty="0" sz="2800">
                <a:solidFill>
                  <a:srgbClr val="E1E1E1"/>
                </a:solidFill>
              </a:rPr>
              <a:t>para</a:t>
            </a:r>
            <a:r>
              <a:rPr dirty="0" sz="2800" spc="-150">
                <a:solidFill>
                  <a:srgbClr val="E1E1E1"/>
                </a:solidFill>
              </a:rPr>
              <a:t> </a:t>
            </a:r>
            <a:r>
              <a:rPr dirty="0" sz="2800" spc="-10">
                <a:solidFill>
                  <a:srgbClr val="DFDFDF"/>
                </a:solidFill>
              </a:rPr>
              <a:t>navegar.</a:t>
            </a:r>
            <a:endParaRPr sz="2800"/>
          </a:p>
          <a:p>
            <a:pPr marL="12700" marR="5080" indent="575945">
              <a:lnSpc>
                <a:spcPts val="6550"/>
              </a:lnSpc>
              <a:spcBef>
                <a:spcPts val="555"/>
              </a:spcBef>
              <a:tabLst>
                <a:tab pos="577215" algn="l"/>
                <a:tab pos="5575935" algn="l"/>
              </a:tabLst>
            </a:pPr>
            <a:r>
              <a:rPr dirty="0" spc="-35">
                <a:solidFill>
                  <a:srgbClr val="E9E9E9"/>
                </a:solidFill>
              </a:rPr>
              <a:t>Sistemas</a:t>
            </a:r>
            <a:r>
              <a:rPr dirty="0" spc="-60">
                <a:solidFill>
                  <a:srgbClr val="E9E9E9"/>
                </a:solidFill>
              </a:rPr>
              <a:t> </a:t>
            </a:r>
            <a:r>
              <a:rPr dirty="0">
                <a:solidFill>
                  <a:srgbClr val="E1E1E1"/>
                </a:solidFill>
              </a:rPr>
              <a:t>expertos</a:t>
            </a:r>
            <a:r>
              <a:rPr dirty="0" spc="-30">
                <a:solidFill>
                  <a:srgbClr val="E1E1E1"/>
                </a:solidFill>
              </a:rPr>
              <a:t> </a:t>
            </a:r>
            <a:r>
              <a:rPr dirty="0" spc="-50">
                <a:solidFill>
                  <a:srgbClr val="E2E2E2"/>
                </a:solidFill>
              </a:rPr>
              <a:t>que</a:t>
            </a:r>
            <a:r>
              <a:rPr dirty="0" spc="-140">
                <a:solidFill>
                  <a:srgbClr val="E2E2E2"/>
                </a:solidFill>
              </a:rPr>
              <a:t> </a:t>
            </a:r>
            <a:r>
              <a:rPr dirty="0" spc="-85">
                <a:solidFill>
                  <a:srgbClr val="DBDBDB"/>
                </a:solidFill>
              </a:rPr>
              <a:t>usan</a:t>
            </a:r>
            <a:r>
              <a:rPr dirty="0" spc="-150">
                <a:solidFill>
                  <a:srgbClr val="DBDBDB"/>
                </a:solidFill>
              </a:rPr>
              <a:t> </a:t>
            </a:r>
            <a:r>
              <a:rPr dirty="0" spc="-25">
                <a:solidFill>
                  <a:srgbClr val="00DFF2"/>
                </a:solidFill>
              </a:rPr>
              <a:t>."</a:t>
            </a:r>
            <a:r>
              <a:rPr dirty="0">
                <a:solidFill>
                  <a:srgbClr val="00DFF2"/>
                </a:solidFill>
              </a:rPr>
              <a:t>	</a:t>
            </a:r>
            <a:r>
              <a:rPr dirty="0">
                <a:solidFill>
                  <a:srgbClr val="DFDFDF"/>
                </a:solidFill>
              </a:rPr>
              <a:t>para</a:t>
            </a:r>
            <a:r>
              <a:rPr dirty="0" spc="125">
                <a:solidFill>
                  <a:srgbClr val="DFDFDF"/>
                </a:solidFill>
              </a:rPr>
              <a:t> </a:t>
            </a:r>
            <a:r>
              <a:rPr dirty="0" spc="-10">
                <a:solidFill>
                  <a:srgbClr val="E4E4E4"/>
                </a:solidFill>
              </a:rPr>
              <a:t>interactuar. </a:t>
            </a:r>
            <a:r>
              <a:rPr dirty="0" spc="140">
                <a:solidFill>
                  <a:srgbClr val="0AEDFD"/>
                </a:solidFill>
              </a:rPr>
              <a:t>@</a:t>
            </a:r>
            <a:r>
              <a:rPr dirty="0">
                <a:solidFill>
                  <a:srgbClr val="0AEDFD"/>
                </a:solidFill>
              </a:rPr>
              <a:t>	</a:t>
            </a:r>
            <a:r>
              <a:rPr dirty="0" spc="-90">
                <a:solidFill>
                  <a:srgbClr val="28E8FF"/>
                </a:solidFill>
              </a:rPr>
              <a:t>Redes</a:t>
            </a:r>
            <a:r>
              <a:rPr dirty="0" spc="-30">
                <a:solidFill>
                  <a:srgbClr val="28E8FF"/>
                </a:solidFill>
              </a:rPr>
              <a:t> </a:t>
            </a:r>
            <a:r>
              <a:rPr dirty="0" spc="-40">
                <a:solidFill>
                  <a:srgbClr val="13D8E2"/>
                </a:solidFill>
              </a:rPr>
              <a:t>Neuronales</a:t>
            </a:r>
            <a:r>
              <a:rPr dirty="0" spc="190">
                <a:solidFill>
                  <a:srgbClr val="13D8E2"/>
                </a:solidFill>
              </a:rPr>
              <a:t> </a:t>
            </a:r>
            <a:r>
              <a:rPr dirty="0" spc="-20">
                <a:solidFill>
                  <a:srgbClr val="E2E2E2"/>
                </a:solidFill>
              </a:rPr>
              <a:t>que</a:t>
            </a:r>
            <a:r>
              <a:rPr dirty="0" spc="-120">
                <a:solidFill>
                  <a:srgbClr val="E2E2E2"/>
                </a:solidFill>
              </a:rPr>
              <a:t> </a:t>
            </a:r>
            <a:r>
              <a:rPr dirty="0">
                <a:solidFill>
                  <a:srgbClr val="E4E4E4"/>
                </a:solidFill>
              </a:rPr>
              <a:t>potencion</a:t>
            </a:r>
            <a:r>
              <a:rPr dirty="0" spc="-25">
                <a:solidFill>
                  <a:srgbClr val="E4E4E4"/>
                </a:solidFill>
              </a:rPr>
              <a:t> </a:t>
            </a:r>
            <a:r>
              <a:rPr dirty="0">
                <a:solidFill>
                  <a:srgbClr val="DFDFDF"/>
                </a:solidFill>
              </a:rPr>
              <a:t>coda</a:t>
            </a:r>
            <a:r>
              <a:rPr dirty="0" spc="-100">
                <a:solidFill>
                  <a:srgbClr val="DFDFDF"/>
                </a:solidFill>
              </a:rPr>
              <a:t> </a:t>
            </a:r>
            <a:r>
              <a:rPr dirty="0">
                <a:solidFill>
                  <a:srgbClr val="DBDBDB"/>
                </a:solidFill>
              </a:rPr>
              <a:t>uno</a:t>
            </a:r>
            <a:r>
              <a:rPr dirty="0" spc="-30">
                <a:solidFill>
                  <a:srgbClr val="DBDBDB"/>
                </a:solidFill>
              </a:rPr>
              <a:t> </a:t>
            </a:r>
            <a:r>
              <a:rPr dirty="0">
                <a:solidFill>
                  <a:srgbClr val="DFDFDF"/>
                </a:solidFill>
              </a:rPr>
              <a:t>de</a:t>
            </a:r>
            <a:r>
              <a:rPr dirty="0" spc="-155">
                <a:solidFill>
                  <a:srgbClr val="DFDFDF"/>
                </a:solidFill>
              </a:rPr>
              <a:t> </a:t>
            </a:r>
            <a:r>
              <a:rPr dirty="0" spc="-10">
                <a:solidFill>
                  <a:srgbClr val="DFDFDF"/>
                </a:solidFill>
              </a:rPr>
              <a:t>estas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14143107" y="6970071"/>
            <a:ext cx="127952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110">
                <a:solidFill>
                  <a:srgbClr val="E4E4E4"/>
                </a:solidFill>
                <a:latin typeface="Arial MT"/>
                <a:cs typeface="Arial MT"/>
              </a:rPr>
              <a:t>General.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5706" y="7743219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5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1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499406" y="7630391"/>
            <a:ext cx="91186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85">
                <a:solidFill>
                  <a:srgbClr val="E8E8E8"/>
                </a:solidFill>
                <a:latin typeface="Arial MT"/>
                <a:cs typeface="Arial MT"/>
              </a:rPr>
              <a:t>óreas.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4162176"/>
            <a:ext cx="20080605" cy="1186180"/>
          </a:xfrm>
          <a:custGeom>
            <a:avLst/>
            <a:gdLst/>
            <a:ahLst/>
            <a:cxnLst/>
            <a:rect l="l" t="t" r="r" b="b"/>
            <a:pathLst>
              <a:path w="20080605" h="1186179">
                <a:moveTo>
                  <a:pt x="20080541" y="1185827"/>
                </a:moveTo>
                <a:lnTo>
                  <a:pt x="0" y="118582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185827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54400" y="3767943"/>
            <a:ext cx="7646034" cy="15767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150" spc="140"/>
              <a:t>¿Preguntas?</a:t>
            </a:r>
            <a:endParaRPr sz="10150"/>
          </a:p>
        </p:txBody>
      </p:sp>
      <p:sp>
        <p:nvSpPr>
          <p:cNvPr id="4" name="object 4" descr=""/>
          <p:cNvSpPr/>
          <p:nvPr/>
        </p:nvSpPr>
        <p:spPr>
          <a:xfrm>
            <a:off x="15706" y="5795635"/>
            <a:ext cx="20080605" cy="447675"/>
          </a:xfrm>
          <a:custGeom>
            <a:avLst/>
            <a:gdLst/>
            <a:ahLst/>
            <a:cxnLst/>
            <a:rect l="l" t="t" r="r" b="b"/>
            <a:pathLst>
              <a:path w="20080605" h="447675">
                <a:moveTo>
                  <a:pt x="20080541" y="447630"/>
                </a:moveTo>
                <a:lnTo>
                  <a:pt x="0" y="44763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47630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5706" y="6957903"/>
            <a:ext cx="20080605" cy="432434"/>
          </a:xfrm>
          <a:custGeom>
            <a:avLst/>
            <a:gdLst/>
            <a:ahLst/>
            <a:cxnLst/>
            <a:rect l="l" t="t" r="r" b="b"/>
            <a:pathLst>
              <a:path w="20080605" h="432434">
                <a:moveTo>
                  <a:pt x="20080541" y="431924"/>
                </a:moveTo>
                <a:lnTo>
                  <a:pt x="0" y="43192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31924"/>
                </a:lnTo>
                <a:close/>
              </a:path>
            </a:pathLst>
          </a:custGeom>
          <a:solidFill>
            <a:srgbClr val="010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673505" y="5646813"/>
            <a:ext cx="6716395" cy="1721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13335">
              <a:lnSpc>
                <a:spcPct val="100000"/>
              </a:lnSpc>
              <a:spcBef>
                <a:spcPts val="105"/>
              </a:spcBef>
            </a:pPr>
            <a:r>
              <a:rPr dirty="0" sz="3600" spc="-155">
                <a:solidFill>
                  <a:srgbClr val="AFAFAF"/>
                </a:solidFill>
                <a:latin typeface="Arial MT"/>
                <a:cs typeface="Arial MT"/>
              </a:rPr>
              <a:t>¡Gracias</a:t>
            </a:r>
            <a:r>
              <a:rPr dirty="0" sz="3600" spc="-2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959CAF"/>
                </a:solidFill>
                <a:latin typeface="Arial MT"/>
                <a:cs typeface="Arial MT"/>
              </a:rPr>
              <a:t>por</a:t>
            </a:r>
            <a:r>
              <a:rPr dirty="0" sz="3600" spc="-45">
                <a:solidFill>
                  <a:srgbClr val="959CAF"/>
                </a:solidFill>
                <a:latin typeface="Arial MT"/>
                <a:cs typeface="Arial MT"/>
              </a:rPr>
              <a:t> </a:t>
            </a:r>
            <a:r>
              <a:rPr dirty="0" sz="3600" spc="-310">
                <a:solidFill>
                  <a:srgbClr val="3F495D"/>
                </a:solidFill>
                <a:latin typeface="Arial MT"/>
                <a:cs typeface="Arial MT"/>
              </a:rPr>
              <a:t>su</a:t>
            </a:r>
            <a:r>
              <a:rPr dirty="0" sz="3600" spc="-140">
                <a:solidFill>
                  <a:srgbClr val="3F495D"/>
                </a:solidFill>
                <a:latin typeface="Arial MT"/>
                <a:cs typeface="Arial MT"/>
              </a:rPr>
              <a:t> </a:t>
            </a:r>
            <a:r>
              <a:rPr dirty="0" sz="3600" spc="-10">
                <a:solidFill>
                  <a:srgbClr val="C1C1C1"/>
                </a:solidFill>
                <a:latin typeface="Arial MT"/>
                <a:cs typeface="Arial MT"/>
              </a:rPr>
              <a:t>atención!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3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2950" spc="60">
                <a:solidFill>
                  <a:srgbClr val="03EDFF"/>
                </a:solidFill>
                <a:latin typeface="Arial MT"/>
                <a:cs typeface="Arial MT"/>
              </a:rPr>
              <a:t>@</a:t>
            </a:r>
            <a:r>
              <a:rPr dirty="0" sz="2950" spc="-210">
                <a:solidFill>
                  <a:srgbClr val="03EDFF"/>
                </a:solidFill>
                <a:latin typeface="Arial MT"/>
                <a:cs typeface="Arial MT"/>
              </a:rPr>
              <a:t> </a:t>
            </a:r>
            <a:r>
              <a:rPr dirty="0" sz="2950" spc="-50">
                <a:solidFill>
                  <a:srgbClr val="00644B"/>
                </a:solidFill>
                <a:latin typeface="Arial MT"/>
                <a:cs typeface="Arial MT"/>
              </a:rPr>
              <a:t>Presentación </a:t>
            </a:r>
            <a:r>
              <a:rPr dirty="0" sz="2950" spc="-10">
                <a:solidFill>
                  <a:srgbClr val="002436"/>
                </a:solidFill>
                <a:latin typeface="Arial MT"/>
                <a:cs typeface="Arial MT"/>
              </a:rPr>
              <a:t>sobre</a:t>
            </a:r>
            <a:r>
              <a:rPr dirty="0" sz="2950" spc="-40">
                <a:solidFill>
                  <a:srgbClr val="002436"/>
                </a:solidFill>
                <a:latin typeface="Arial MT"/>
                <a:cs typeface="Arial MT"/>
              </a:rPr>
              <a:t> </a:t>
            </a:r>
            <a:r>
              <a:rPr dirty="0" sz="2950" spc="-35">
                <a:solidFill>
                  <a:srgbClr val="002121"/>
                </a:solidFill>
                <a:latin typeface="Arial MT"/>
                <a:cs typeface="Arial MT"/>
              </a:rPr>
              <a:t>Aplicaciones</a:t>
            </a:r>
            <a:r>
              <a:rPr dirty="0" sz="2950" spc="-25">
                <a:solidFill>
                  <a:srgbClr val="002121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00211F"/>
                </a:solidFill>
                <a:latin typeface="Arial MT"/>
                <a:cs typeface="Arial MT"/>
              </a:rPr>
              <a:t>de</a:t>
            </a:r>
            <a:r>
              <a:rPr dirty="0" sz="2950" spc="-204">
                <a:solidFill>
                  <a:srgbClr val="00211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1CD8BA"/>
                </a:solidFill>
                <a:latin typeface="Arial MT"/>
                <a:cs typeface="Arial MT"/>
              </a:rPr>
              <a:t>IA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1130855"/>
            <a:ext cx="20080605" cy="652145"/>
          </a:xfrm>
          <a:custGeom>
            <a:avLst/>
            <a:gdLst/>
            <a:ahLst/>
            <a:cxnLst/>
            <a:rect l="l" t="t" r="r" b="b"/>
            <a:pathLst>
              <a:path w="20080605" h="652144">
                <a:moveTo>
                  <a:pt x="20080541" y="651812"/>
                </a:moveTo>
                <a:lnTo>
                  <a:pt x="0" y="65181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51812"/>
                </a:lnTo>
                <a:close/>
              </a:path>
            </a:pathLst>
          </a:custGeom>
          <a:solidFill>
            <a:srgbClr val="000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6408" rIns="0" bIns="0" rtlCol="0" vert="horz">
            <a:spAutoFit/>
          </a:bodyPr>
          <a:lstStyle/>
          <a:p>
            <a:pPr marL="479425">
              <a:lnSpc>
                <a:spcPct val="100000"/>
              </a:lnSpc>
              <a:spcBef>
                <a:spcPts val="114"/>
              </a:spcBef>
            </a:pPr>
            <a:r>
              <a:rPr dirty="0"/>
              <a:t>Image</a:t>
            </a:r>
            <a:r>
              <a:rPr dirty="0" spc="-65"/>
              <a:t> </a:t>
            </a:r>
            <a:r>
              <a:rPr dirty="0" spc="-10"/>
              <a:t>Sources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15706" y="3298328"/>
            <a:ext cx="20080605" cy="471805"/>
            <a:chOff x="15706" y="3298328"/>
            <a:chExt cx="20080605" cy="4718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086" y="3298328"/>
              <a:ext cx="651812" cy="47118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4870" y="3298328"/>
              <a:ext cx="486896" cy="47118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75326" y="3298328"/>
              <a:ext cx="196329" cy="4319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8086" y="3298328"/>
              <a:ext cx="1083736" cy="47118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5706" y="3298328"/>
              <a:ext cx="20080605" cy="463550"/>
            </a:xfrm>
            <a:custGeom>
              <a:avLst/>
              <a:gdLst/>
              <a:ahLst/>
              <a:cxnLst/>
              <a:rect l="l" t="t" r="r" b="b"/>
              <a:pathLst>
                <a:path w="20080605" h="463550">
                  <a:moveTo>
                    <a:pt x="20080541" y="463336"/>
                  </a:moveTo>
                  <a:lnTo>
                    <a:pt x="0" y="463336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463336"/>
                  </a:lnTo>
                  <a:close/>
                </a:path>
              </a:pathLst>
            </a:custGeom>
            <a:solidFill>
              <a:srgbClr val="0003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2754377" y="3269922"/>
            <a:ext cx="14733269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10">
                <a:solidFill>
                  <a:srgbClr val="EBEBEB"/>
                </a:solidFill>
                <a:latin typeface="Arial MT"/>
                <a:cs typeface="Arial MT"/>
              </a:rPr>
              <a:t>https</a:t>
            </a:r>
            <a:r>
              <a:rPr dirty="0" sz="1550" spc="254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1550" spc="10">
                <a:solidFill>
                  <a:srgbClr val="EBEBEB"/>
                </a:solidFill>
                <a:latin typeface="Arial MT"/>
                <a:cs typeface="Arial MT"/>
              </a:rPr>
              <a:t>//automationaIIey</a:t>
            </a:r>
            <a:r>
              <a:rPr dirty="0" sz="1550" spc="13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1550" spc="60">
                <a:solidFill>
                  <a:srgbClr val="F0F0F0"/>
                </a:solidFill>
                <a:latin typeface="Arial MT"/>
                <a:cs typeface="Arial MT"/>
              </a:rPr>
              <a:t>com/wp-</a:t>
            </a:r>
            <a:r>
              <a:rPr dirty="0" sz="1550" spc="55">
                <a:solidFill>
                  <a:srgbClr val="F0F0F0"/>
                </a:solidFill>
                <a:latin typeface="Arial MT"/>
                <a:cs typeface="Arial MT"/>
              </a:rPr>
              <a:t>content/uploads/ô74dfe4fl942a8ldba287acb</a:t>
            </a:r>
            <a:r>
              <a:rPr dirty="0" sz="1550" spc="315">
                <a:solidFill>
                  <a:srgbClr val="F0F0F0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F0F0F0"/>
                </a:solidFill>
                <a:latin typeface="Arial MT"/>
                <a:cs typeface="Arial MT"/>
              </a:rPr>
              <a:t>robotic</a:t>
            </a:r>
            <a:r>
              <a:rPr dirty="0" sz="1550" spc="-5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dirty="0" sz="1550" spc="80">
                <a:solidFill>
                  <a:srgbClr val="E2E2E2"/>
                </a:solidFill>
                <a:latin typeface="Arial MT"/>
                <a:cs typeface="Arial MT"/>
              </a:rPr>
              <a:t>-</a:t>
            </a:r>
            <a:r>
              <a:rPr dirty="0" sz="1550" spc="140">
                <a:solidFill>
                  <a:srgbClr val="E2E2E2"/>
                </a:solidFill>
                <a:latin typeface="Arial MT"/>
                <a:cs typeface="Arial MT"/>
              </a:rPr>
              <a:t>arm</a:t>
            </a:r>
            <a:r>
              <a:rPr dirty="0" sz="1550" spc="-19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550" spc="10">
                <a:solidFill>
                  <a:srgbClr val="DADADA"/>
                </a:solidFill>
                <a:latin typeface="Arial MT"/>
                <a:cs typeface="Arial MT"/>
              </a:rPr>
              <a:t>-</a:t>
            </a:r>
            <a:r>
              <a:rPr dirty="0" sz="1550" spc="45">
                <a:solidFill>
                  <a:srgbClr val="DADADA"/>
                </a:solidFill>
                <a:latin typeface="Arial MT"/>
                <a:cs typeface="Arial MT"/>
              </a:rPr>
              <a:t>modern-</a:t>
            </a:r>
            <a:r>
              <a:rPr dirty="0" sz="1550" spc="10">
                <a:solidFill>
                  <a:srgbClr val="DADADA"/>
                </a:solidFill>
                <a:latin typeface="Arial MT"/>
                <a:cs typeface="Arial MT"/>
              </a:rPr>
              <a:t>industrial-</a:t>
            </a:r>
            <a:r>
              <a:rPr dirty="0" sz="1550" spc="50">
                <a:solidFill>
                  <a:srgbClr val="DADADA"/>
                </a:solidFill>
                <a:latin typeface="Arial MT"/>
                <a:cs typeface="Arial MT"/>
              </a:rPr>
              <a:t>technology</a:t>
            </a:r>
            <a:r>
              <a:rPr dirty="0" sz="1550" spc="50">
                <a:solidFill>
                  <a:srgbClr val="E4E4E4"/>
                </a:solidFill>
                <a:latin typeface="Arial MT"/>
                <a:cs typeface="Arial MT"/>
              </a:rPr>
              <a:t>-</a:t>
            </a:r>
            <a:r>
              <a:rPr dirty="0" sz="1550" spc="10">
                <a:solidFill>
                  <a:srgbClr val="E4E4E4"/>
                </a:solidFill>
                <a:latin typeface="Arial MT"/>
                <a:cs typeface="Arial MT"/>
              </a:rPr>
              <a:t>automate-2023-11-27-05-18-54-utc</a:t>
            </a:r>
            <a:r>
              <a:rPr dirty="0" sz="1550" spc="-1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D6D6D6"/>
                </a:solidFill>
                <a:latin typeface="Arial MT"/>
                <a:cs typeface="Arial MT"/>
              </a:rPr>
              <a:t>jpg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5706" y="3816637"/>
            <a:ext cx="20088860" cy="204470"/>
            <a:chOff x="15706" y="3816637"/>
            <a:chExt cx="20088860" cy="204470"/>
          </a:xfrm>
        </p:grpSpPr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3816637"/>
              <a:ext cx="20088393" cy="20418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3816637"/>
              <a:ext cx="20088393" cy="204182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15706" y="4649073"/>
            <a:ext cx="20080605" cy="808990"/>
            <a:chOff x="15706" y="4649073"/>
            <a:chExt cx="20080605" cy="808990"/>
          </a:xfrm>
        </p:grpSpPr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8086" y="4664779"/>
              <a:ext cx="1413569" cy="785316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5706" y="4649073"/>
              <a:ext cx="20080605" cy="808990"/>
            </a:xfrm>
            <a:custGeom>
              <a:avLst/>
              <a:gdLst/>
              <a:ahLst/>
              <a:cxnLst/>
              <a:rect l="l" t="t" r="r" b="b"/>
              <a:pathLst>
                <a:path w="20080605" h="808989">
                  <a:moveTo>
                    <a:pt x="20080541" y="808875"/>
                  </a:moveTo>
                  <a:lnTo>
                    <a:pt x="0" y="808875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808875"/>
                  </a:lnTo>
                  <a:close/>
                </a:path>
              </a:pathLst>
            </a:custGeom>
            <a:solidFill>
              <a:srgbClr val="0003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752371" y="4840555"/>
            <a:ext cx="810577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100">
                <a:solidFill>
                  <a:srgbClr val="E4E4E4"/>
                </a:solidFill>
                <a:latin typeface="Arial MT"/>
                <a:cs typeface="Arial MT"/>
              </a:rPr>
              <a:t>a</a:t>
            </a:r>
            <a:r>
              <a:rPr dirty="0" sz="1550" spc="100">
                <a:solidFill>
                  <a:srgbClr val="EBEBEB"/>
                </a:solidFill>
                <a:latin typeface="Arial MT"/>
                <a:cs typeface="Arial MT"/>
              </a:rPr>
              <a:t>-</a:t>
            </a:r>
            <a:r>
              <a:rPr dirty="0" sz="1550" spc="10">
                <a:solidFill>
                  <a:srgbClr val="EBEBEB"/>
                </a:solidFill>
                <a:latin typeface="Arial MT"/>
                <a:cs typeface="Arial MT"/>
              </a:rPr>
              <a:t>complex</a:t>
            </a:r>
            <a:r>
              <a:rPr dirty="0" sz="1550" spc="35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1550" spc="10">
                <a:solidFill>
                  <a:srgbClr val="E8E8E8"/>
                </a:solidFill>
                <a:latin typeface="Arial MT"/>
                <a:cs typeface="Arial MT"/>
              </a:rPr>
              <a:t>-</a:t>
            </a:r>
            <a:r>
              <a:rPr dirty="0" sz="1550" spc="55">
                <a:solidFill>
                  <a:srgbClr val="E8E8E8"/>
                </a:solidFill>
                <a:latin typeface="Arial MT"/>
                <a:cs typeface="Arial MT"/>
              </a:rPr>
              <a:t>structure-with-</a:t>
            </a:r>
            <a:r>
              <a:rPr dirty="0" sz="1550" spc="80">
                <a:solidFill>
                  <a:srgbClr val="E8E8E8"/>
                </a:solidFill>
                <a:latin typeface="Arial MT"/>
                <a:cs typeface="Arial MT"/>
              </a:rPr>
              <a:t>blur</a:t>
            </a:r>
            <a:r>
              <a:rPr dirty="0" sz="1550" spc="80">
                <a:solidFill>
                  <a:srgbClr val="DFDFDF"/>
                </a:solidFill>
                <a:latin typeface="Arial MT"/>
                <a:cs typeface="Arial MT"/>
              </a:rPr>
              <a:t>red</a:t>
            </a:r>
            <a:r>
              <a:rPr dirty="0" sz="1550" spc="80">
                <a:solidFill>
                  <a:srgbClr val="DADADA"/>
                </a:solidFill>
                <a:latin typeface="Arial MT"/>
                <a:cs typeface="Arial MT"/>
              </a:rPr>
              <a:t>-</a:t>
            </a:r>
            <a:r>
              <a:rPr dirty="0" sz="1550" spc="50">
                <a:solidFill>
                  <a:srgbClr val="DADADA"/>
                </a:solidFill>
                <a:latin typeface="Arial MT"/>
                <a:cs typeface="Arial MT"/>
              </a:rPr>
              <a:t>background</a:t>
            </a:r>
            <a:r>
              <a:rPr dirty="0" sz="1550" spc="-25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1550" spc="10">
                <a:solidFill>
                  <a:srgbClr val="DDDDDD"/>
                </a:solidFill>
                <a:latin typeface="Arial MT"/>
                <a:cs typeface="Arial MT"/>
              </a:rPr>
              <a:t>-showing</a:t>
            </a:r>
            <a:r>
              <a:rPr dirty="0" sz="1550" spc="-12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550" spc="10">
                <a:solidFill>
                  <a:srgbClr val="E4E4E4"/>
                </a:solidFill>
                <a:latin typeface="Arial MT"/>
                <a:cs typeface="Arial MT"/>
              </a:rPr>
              <a:t>-artificial-intelligence-photo</a:t>
            </a:r>
            <a:r>
              <a:rPr dirty="0" sz="1550" spc="41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E4E4E4"/>
                </a:solidFill>
                <a:latin typeface="Arial MT"/>
                <a:cs typeface="Arial MT"/>
              </a:rPr>
              <a:t>peg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5706" y="6062642"/>
            <a:ext cx="20080605" cy="808990"/>
            <a:chOff x="15706" y="6062642"/>
            <a:chExt cx="20080605" cy="808990"/>
          </a:xfrm>
        </p:grpSpPr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8086" y="6078349"/>
              <a:ext cx="1413569" cy="785316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5706" y="6062642"/>
              <a:ext cx="20080605" cy="808990"/>
            </a:xfrm>
            <a:custGeom>
              <a:avLst/>
              <a:gdLst/>
              <a:ahLst/>
              <a:cxnLst/>
              <a:rect l="l" t="t" r="r" b="b"/>
              <a:pathLst>
                <a:path w="20080605" h="808990">
                  <a:moveTo>
                    <a:pt x="20080541" y="808875"/>
                  </a:moveTo>
                  <a:lnTo>
                    <a:pt x="0" y="808875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808875"/>
                  </a:lnTo>
                  <a:close/>
                </a:path>
              </a:pathLst>
            </a:custGeom>
            <a:solidFill>
              <a:srgbClr val="0003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2754377" y="6004786"/>
            <a:ext cx="13136244" cy="790575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550">
                <a:solidFill>
                  <a:srgbClr val="E6E6E6"/>
                </a:solidFill>
                <a:latin typeface="Arial MT"/>
                <a:cs typeface="Arial MT"/>
              </a:rPr>
              <a:t>https</a:t>
            </a:r>
            <a:r>
              <a:rPr dirty="0" sz="1550" spc="17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550" spc="155">
                <a:solidFill>
                  <a:srgbClr val="E6E6E6"/>
                </a:solidFill>
                <a:latin typeface="Arial MT"/>
                <a:cs typeface="Arial MT"/>
              </a:rPr>
              <a:t>//www</a:t>
            </a:r>
            <a:r>
              <a:rPr dirty="0" sz="1550" spc="26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550" spc="50">
                <a:solidFill>
                  <a:srgbClr val="E6E6E6"/>
                </a:solidFill>
                <a:latin typeface="Arial MT"/>
                <a:cs typeface="Arial MT"/>
              </a:rPr>
              <a:t>bay</a:t>
            </a:r>
            <a:r>
              <a:rPr dirty="0" sz="1550" spc="-20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550" spc="65">
                <a:solidFill>
                  <a:srgbClr val="DFDFDF"/>
                </a:solidFill>
                <a:latin typeface="Arial MT"/>
                <a:cs typeface="Arial MT"/>
              </a:rPr>
              <a:t>alarm</a:t>
            </a:r>
            <a:r>
              <a:rPr dirty="0" sz="1550" spc="3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550" spc="70">
                <a:solidFill>
                  <a:srgbClr val="E6E6E6"/>
                </a:solidFill>
                <a:latin typeface="Arial MT"/>
                <a:cs typeface="Arial MT"/>
              </a:rPr>
              <a:t>com/wp-</a:t>
            </a:r>
            <a:r>
              <a:rPr dirty="0" sz="1550" spc="55">
                <a:solidFill>
                  <a:srgbClr val="E6E6E6"/>
                </a:solidFill>
                <a:latin typeface="Arial MT"/>
                <a:cs typeface="Arial MT"/>
              </a:rPr>
              <a:t>content/uploads/2023/07/face-detection-</a:t>
            </a:r>
            <a:r>
              <a:rPr dirty="0" sz="1550" spc="50">
                <a:solidFill>
                  <a:srgbClr val="E6E6E6"/>
                </a:solidFill>
                <a:latin typeface="Arial MT"/>
                <a:cs typeface="Arial MT"/>
              </a:rPr>
              <a:t>or-</a:t>
            </a:r>
            <a:r>
              <a:rPr dirty="0" sz="1550" spc="45">
                <a:solidFill>
                  <a:srgbClr val="E6E6E6"/>
                </a:solidFill>
                <a:latin typeface="Arial MT"/>
                <a:cs typeface="Arial MT"/>
              </a:rPr>
              <a:t>facial-</a:t>
            </a:r>
            <a:r>
              <a:rPr dirty="0" sz="1550" spc="55">
                <a:solidFill>
                  <a:srgbClr val="E6E6E6"/>
                </a:solidFill>
                <a:latin typeface="Arial MT"/>
                <a:cs typeface="Arial MT"/>
              </a:rPr>
              <a:t>recognition-</a:t>
            </a:r>
            <a:r>
              <a:rPr dirty="0" sz="1550" spc="50">
                <a:solidFill>
                  <a:srgbClr val="E6E6E6"/>
                </a:solidFill>
                <a:latin typeface="Arial MT"/>
                <a:cs typeface="Arial MT"/>
              </a:rPr>
              <a:t>grid</a:t>
            </a:r>
            <a:r>
              <a:rPr dirty="0" sz="1550" spc="-229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E6E6E6"/>
                </a:solidFill>
                <a:latin typeface="Arial MT"/>
                <a:cs typeface="Arial MT"/>
              </a:rPr>
              <a:t>-ov</a:t>
            </a:r>
            <a:r>
              <a:rPr dirty="0" sz="1550" spc="-22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DDDDDD"/>
                </a:solidFill>
                <a:latin typeface="Arial MT"/>
                <a:cs typeface="Arial MT"/>
              </a:rPr>
              <a:t>er</a:t>
            </a:r>
            <a:r>
              <a:rPr dirty="0" sz="1550">
                <a:solidFill>
                  <a:srgbClr val="E4E4E4"/>
                </a:solidFill>
                <a:latin typeface="Arial MT"/>
                <a:cs typeface="Arial MT"/>
              </a:rPr>
              <a:t>lay</a:t>
            </a:r>
            <a:r>
              <a:rPr dirty="0" sz="1550" spc="-12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E8E8E8"/>
                </a:solidFill>
                <a:latin typeface="Arial MT"/>
                <a:cs typeface="Arial MT"/>
              </a:rPr>
              <a:t>-</a:t>
            </a:r>
            <a:r>
              <a:rPr dirty="0" sz="1550" spc="60">
                <a:solidFill>
                  <a:srgbClr val="E8E8E8"/>
                </a:solidFill>
                <a:latin typeface="Arial MT"/>
                <a:cs typeface="Arial MT"/>
              </a:rPr>
              <a:t>2022-</a:t>
            </a:r>
            <a:r>
              <a:rPr dirty="0" sz="1550">
                <a:solidFill>
                  <a:srgbClr val="E8E8E8"/>
                </a:solidFill>
                <a:latin typeface="Arial MT"/>
                <a:cs typeface="Arial MT"/>
              </a:rPr>
              <a:t>ìI-</a:t>
            </a:r>
            <a:r>
              <a:rPr dirty="0" sz="1550" spc="-22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E2E2E2"/>
                </a:solidFill>
                <a:latin typeface="Arial MT"/>
                <a:cs typeface="Arial MT"/>
              </a:rPr>
              <a:t>Iô-17-</a:t>
            </a:r>
            <a:r>
              <a:rPr dirty="0" sz="1550" spc="50">
                <a:solidFill>
                  <a:srgbClr val="E2E2E2"/>
                </a:solidFill>
                <a:latin typeface="Arial MT"/>
                <a:cs typeface="Arial MT"/>
              </a:rPr>
              <a:t>Oô-</a:t>
            </a:r>
            <a:r>
              <a:rPr dirty="0" sz="1550">
                <a:solidFill>
                  <a:srgbClr val="E2E2E2"/>
                </a:solidFill>
                <a:latin typeface="Arial MT"/>
                <a:cs typeface="Arial MT"/>
              </a:rPr>
              <a:t>II-utc</a:t>
            </a:r>
            <a:r>
              <a:rPr dirty="0" sz="1550" spc="-15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E2E2E2"/>
                </a:solidFill>
                <a:latin typeface="Arial MT"/>
                <a:cs typeface="Arial MT"/>
              </a:rPr>
              <a:t>-scaled</a:t>
            </a:r>
            <a:r>
              <a:rPr dirty="0" sz="1550" spc="90">
                <a:solidFill>
                  <a:srgbClr val="E2E2E2"/>
                </a:solidFill>
                <a:latin typeface="Arial MT"/>
                <a:cs typeface="Arial MT"/>
              </a:rPr>
              <a:t>  </a:t>
            </a:r>
            <a:r>
              <a:rPr dirty="0" sz="1550" spc="-25">
                <a:solidFill>
                  <a:srgbClr val="E6E6E6"/>
                </a:solidFill>
                <a:latin typeface="Arial MT"/>
                <a:cs typeface="Arial MT"/>
              </a:rPr>
              <a:t>pg</a:t>
            </a:r>
            <a:endParaRPr sz="15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980"/>
              </a:spcBef>
            </a:pPr>
            <a:r>
              <a:rPr dirty="0" sz="2050" spc="-10">
                <a:solidFill>
                  <a:srgbClr val="E8E8E8"/>
                </a:solidFill>
                <a:latin typeface="Arial MT"/>
                <a:cs typeface="Arial MT"/>
              </a:rPr>
              <a:t>Source: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5706" y="7711806"/>
            <a:ext cx="20088860" cy="173355"/>
            <a:chOff x="15706" y="7711806"/>
            <a:chExt cx="20088860" cy="173355"/>
          </a:xfrm>
        </p:grpSpPr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06" y="7711806"/>
              <a:ext cx="20088393" cy="17276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06" y="7711806"/>
              <a:ext cx="20088393" cy="172769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15706" y="8607067"/>
            <a:ext cx="20080605" cy="808990"/>
            <a:chOff x="15706" y="8607067"/>
            <a:chExt cx="20080605" cy="808990"/>
          </a:xfrm>
        </p:grpSpPr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8086" y="8622773"/>
              <a:ext cx="1413569" cy="785316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5706" y="8607067"/>
              <a:ext cx="20080605" cy="808990"/>
            </a:xfrm>
            <a:custGeom>
              <a:avLst/>
              <a:gdLst/>
              <a:ahLst/>
              <a:cxnLst/>
              <a:rect l="l" t="t" r="r" b="b"/>
              <a:pathLst>
                <a:path w="20080605" h="808990">
                  <a:moveTo>
                    <a:pt x="20080541" y="808875"/>
                  </a:moveTo>
                  <a:lnTo>
                    <a:pt x="0" y="808875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808875"/>
                  </a:lnTo>
                  <a:close/>
                </a:path>
              </a:pathLst>
            </a:custGeom>
            <a:solidFill>
              <a:srgbClr val="0508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2754377" y="8549212"/>
            <a:ext cx="10488295" cy="790575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550">
                <a:solidFill>
                  <a:srgbClr val="DDDDDD"/>
                </a:solidFill>
                <a:latin typeface="Arial MT"/>
                <a:cs typeface="Arial MT"/>
              </a:rPr>
              <a:t>https</a:t>
            </a:r>
            <a:r>
              <a:rPr dirty="0" sz="1550" spc="8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550" spc="60">
                <a:solidFill>
                  <a:srgbClr val="DDDDDD"/>
                </a:solidFill>
                <a:latin typeface="Arial MT"/>
                <a:cs typeface="Arial MT"/>
              </a:rPr>
              <a:t>//graffersid</a:t>
            </a:r>
            <a:r>
              <a:rPr dirty="0" sz="1550" spc="1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550" spc="70">
                <a:solidFill>
                  <a:srgbClr val="E9E9E9"/>
                </a:solidFill>
                <a:latin typeface="Arial MT"/>
                <a:cs typeface="Arial MT"/>
              </a:rPr>
              <a:t>com/wp-</a:t>
            </a:r>
            <a:r>
              <a:rPr dirty="0" sz="1550" spc="60">
                <a:solidFill>
                  <a:srgbClr val="E9E9E9"/>
                </a:solidFill>
                <a:latin typeface="Arial MT"/>
                <a:cs typeface="Arial MT"/>
              </a:rPr>
              <a:t>content/uploads/2023/08/GrafferslD</a:t>
            </a:r>
            <a:r>
              <a:rPr dirty="0" sz="1550" spc="60">
                <a:solidFill>
                  <a:srgbClr val="DFDFDF"/>
                </a:solidFill>
                <a:latin typeface="Arial MT"/>
                <a:cs typeface="Arial MT"/>
              </a:rPr>
              <a:t>-</a:t>
            </a:r>
            <a:r>
              <a:rPr dirty="0" sz="1550">
                <a:solidFill>
                  <a:srgbClr val="DFDFDF"/>
                </a:solidFill>
                <a:latin typeface="Arial MT"/>
                <a:cs typeface="Arial MT"/>
              </a:rPr>
              <a:t>Case-</a:t>
            </a:r>
            <a:r>
              <a:rPr dirty="0" sz="1550" spc="-17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DFDFDF"/>
                </a:solidFill>
                <a:latin typeface="Arial MT"/>
                <a:cs typeface="Arial MT"/>
              </a:rPr>
              <a:t>Study</a:t>
            </a:r>
            <a:r>
              <a:rPr dirty="0" sz="1550" spc="-10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E1E1E1"/>
                </a:solidFill>
                <a:latin typeface="Arial MT"/>
                <a:cs typeface="Arial MT"/>
              </a:rPr>
              <a:t>-</a:t>
            </a:r>
            <a:r>
              <a:rPr dirty="0" sz="1550" spc="-25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E4E4E4"/>
                </a:solidFill>
                <a:latin typeface="Arial MT"/>
                <a:cs typeface="Arial MT"/>
              </a:rPr>
              <a:t>Hospital-</a:t>
            </a:r>
            <a:r>
              <a:rPr dirty="0" sz="1550" spc="-16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550" spc="60">
                <a:solidFill>
                  <a:srgbClr val="E1E1E1"/>
                </a:solidFill>
                <a:latin typeface="Arial MT"/>
                <a:cs typeface="Arial MT"/>
              </a:rPr>
              <a:t>Management-</a:t>
            </a:r>
            <a:r>
              <a:rPr dirty="0" sz="1550" spc="-114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DFDFDF"/>
                </a:solidFill>
                <a:latin typeface="Arial MT"/>
                <a:cs typeface="Arial MT"/>
              </a:rPr>
              <a:t>System</a:t>
            </a:r>
            <a:r>
              <a:rPr dirty="0" sz="1550" spc="9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550" spc="55">
                <a:solidFill>
                  <a:srgbClr val="E1E1E1"/>
                </a:solidFill>
                <a:latin typeface="Arial MT"/>
                <a:cs typeface="Arial MT"/>
              </a:rPr>
              <a:t>webp</a:t>
            </a:r>
            <a:endParaRPr sz="15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980"/>
              </a:spcBef>
            </a:pPr>
            <a:r>
              <a:rPr dirty="0" sz="2050" spc="-10">
                <a:solidFill>
                  <a:srgbClr val="E2E2E2"/>
                </a:solidFill>
                <a:latin typeface="Arial MT"/>
                <a:cs typeface="Arial MT"/>
              </a:rPr>
              <a:t>Source: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2026-03-26T00:10:13Z</dcterms:created>
  <dcterms:modified xsi:type="dcterms:W3CDTF">2026-03-26T00:10:13Z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2026-03-22T00:00:00Z</vt:filetime>
  </property>
  <property fmtid="{D5CDD505-2E9C-101B-9397-08002B2CF9AE}" pid="3" name="LastSaved">
    <vt:filetime>2026-03-26T00:00:00Z</vt:filetime>
  </property>
</Properties>
</file>