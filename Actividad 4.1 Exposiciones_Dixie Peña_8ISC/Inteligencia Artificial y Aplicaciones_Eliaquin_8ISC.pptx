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embeddedFontLst>
    <p:embeddedFont>
      <p:font typeface="Inter" panose="02000503000000020004" pitchFamily="2" charset="0"/>
      <p:regular r:id="rId15"/>
      <p:bold r:id="rId16"/>
      <p:italic r:id="rId17"/>
      <p:boldItalic r:id="rId18"/>
    </p:embeddedFont>
    <p:embeddedFont>
      <p:font typeface="Inter SemiBold" panose="02000503000000020004" pitchFamily="2" charset="0"/>
      <p:regular r:id="rId19"/>
      <p:bold r:id="rId20"/>
      <p:italic r:id="rId21"/>
      <p:boldItalic r:id="rId22"/>
    </p:embeddedFont>
    <p:embeddedFont>
      <p:font typeface="Urbanist" panose="020B0A04040200000203" pitchFamily="34" charset="77"/>
      <p:regular r:id="rId23"/>
      <p:bold r:id="rId24"/>
      <p:italic r:id="rId25"/>
      <p:boldItalic r:id="rId26"/>
    </p:embeddedFont>
    <p:embeddedFont>
      <p:font typeface="Urbanist SemiBold" panose="020B0A04040200000203" pitchFamily="34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7FB175-942D-4B80-9A96-432AF92DEA8E}">
  <a:tblStyle styleId="{547FB175-942D-4B80-9A96-432AF92DEA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95487" y="2156519"/>
            <a:ext cx="8201025" cy="176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IA, Robótica 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Visión Computacional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90750" y="4107060"/>
            <a:ext cx="7810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Conceptos Fundamentales y Fronteras Tecnológicas 2025</a:t>
            </a:r>
            <a:endParaRPr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B2FE827-AB98-561F-30E3-ECE08B98BE6F}"/>
              </a:ext>
            </a:extLst>
          </p:cNvPr>
          <p:cNvSpPr txBox="1"/>
          <p:nvPr/>
        </p:nvSpPr>
        <p:spPr>
          <a:xfrm>
            <a:off x="5191369" y="2521113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s-MX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381625" y="2652712"/>
            <a:ext cx="142875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735705" y="2890837"/>
            <a:ext cx="472059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Técnicas de IA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848100" y="3900487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Pilares de la revolución digital moderna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9800"/>
            <a:ext cx="3492549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09800"/>
            <a:ext cx="3492549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09800"/>
            <a:ext cx="3492549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94225" y="32670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NLP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66775" y="37814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Procesamiento de Lenguaje para traducción y generación de texto coherente (ChatGPT, Claude).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4572524" y="32670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Predicción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45074" y="37814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Análisis masivo de datos para predecir mercados financieros y patrones climáticos globales.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350824" y="32670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Bioinformática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23374" y="37814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Diseño de proteínas y diagnósticos médicos precisos mediante análisis de genoma y patrones biológicos.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17662" y="254317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5431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4749" y="254317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Aplicaciones de Técnicas de IA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431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23479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Definición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2757487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robótica integra la ingeniería mecánica, eléctrica y la IA para crear máquinas capaces de realizar tareas de forma autónoma o semiautónoma.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52625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000125" y="38623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Industrial: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Brazos mecánicos en líneas de montaje.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000125" y="43576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 Servicio: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Asistencia médica y logística.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00125" y="48529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Social: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Interacción humano-máquina empática.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004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957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9108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Robótica: Conceptos y Tipos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62000" y="571500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Desarrollos Actuales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21145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robótica moderna está migrando de entornos controlados a espacios dinámicos humanos.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310515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Humanoides de Nueva Generación: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Robots como Atlas y Figure 01 ahora utilizan redes neuronales de "visión-lenguaje-acción" para aprender tareas domésticas.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47053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Cirugía de Precisión: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Telemedicina con latencia cero permitiendo cirugías transatlánticas mediante robots con retroalimentación háptica.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86062"/>
            <a:ext cx="533400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86062"/>
            <a:ext cx="533400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857250" y="3071812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Estructura Biológica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7250" y="3481387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Inspiradas en el cerebro humano, utilizan nodos (neuronas) organizados en capas de entrada, ocultas y salida.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572250" y="3071812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Clasificación Clave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572250" y="3481387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CNN: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Especializadas en visión.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RNN/LSTM: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Procesamiento secuencial.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Transformers: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estándar para LLMs modernos.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Redes Neuronales (Basics)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0970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242604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Crecimiento exponencial en parámetros (en miles de millones) de Redes Neuronales Modernas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71500" y="5064472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redes neuronales dominan el 90% de las nuevas aplicaciones de software.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Crecimiento de Modelos IA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1625" y="218122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6286500" y="25384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¿Cómo ve la máquina?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286500" y="2947987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Transforma píxeles en descriptores matemáticos. Los conceptos básicos incluyen el procesamiento de imágenes (filtros) y el reconocimiento de patrones mediante capas convolucionales.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286500" y="435768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meta es la comprensión semántica: no solo ver objetos, sino entender su contexto y relación espacial.</a:t>
            </a:r>
            <a:endParaRPr/>
          </a:p>
        </p:txBody>
      </p:sp>
      <p:pic>
        <p:nvPicPr>
          <p:cNvPr id="174" name="Google Shape;17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9725" y="2219325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Visión Artificial: Conceptos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6057"/>
            <a:ext cx="360223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9485" y="2266057"/>
            <a:ext cx="3253978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99214" y="2266057"/>
            <a:ext cx="362128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71500" y="4790182"/>
            <a:ext cx="360223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Conducción Autónoma: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Detección de obstáculos y señales en tiempo real.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4459485" y="4790182"/>
            <a:ext cx="3253978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Seguridad: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Reconocimiento facial avanzado y vigilancia biométrica.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7999214" y="4790182"/>
            <a:ext cx="362128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Retail 4.0: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Tiendas sin cajeros que rastrean compras mediante visión aérea.</a:t>
            </a:r>
            <a:endParaRPr/>
          </a:p>
        </p:txBody>
      </p:sp>
      <p:pic>
        <p:nvPicPr>
          <p:cNvPr id="188" name="Google Shape;18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2275582"/>
            <a:ext cx="358318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69010" y="2275582"/>
            <a:ext cx="3234928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08739" y="2275582"/>
            <a:ext cx="360223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Visión: Aplicaciones Críticas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571500" y="2828925"/>
            <a:ext cx="4419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0..1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4543425"/>
            <a:ext cx="4419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Rango de Verdad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467350" y="2690812"/>
            <a:ext cx="646080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Más allá del Blanco y Negro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5467350" y="3100387"/>
            <a:ext cx="61531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diferencia de la lógica booleana (0 o 1), la lógica difusa permite grados de verdad intermedios. Es fundamental para sistemas de control que manejan incertidumbre.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467350" y="4205287"/>
            <a:ext cx="6153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Definir si algo está "tibio" no es un sí/no rotundo, sino un valor de pertenencia (ej. 0.6).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Lógica Difusa (Fuzzy Logic)</a:t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0" name="Google Shape;210;p23"/>
          <p:cNvGraphicFramePr/>
          <p:nvPr/>
        </p:nvGraphicFramePr>
        <p:xfrm>
          <a:off x="571500" y="2504182"/>
          <a:ext cx="11049000" cy="2687800"/>
        </p:xfrm>
        <a:graphic>
          <a:graphicData uri="http://schemas.openxmlformats.org/drawingml/2006/table">
            <a:tbl>
              <a:tblPr firstRow="1" bandRow="1">
                <a:noFill/>
                <a:tableStyleId>{547FB175-942D-4B80-9A96-432AF92DEA8E}</a:tableStyleId>
              </a:tblPr>
              <a:tblGrid>
                <a:gridCol w="214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Tecnología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Fortaleza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Uso Típico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Complejidad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Redes Neuronales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Aprendizaje profundo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Clasificación de datos masivos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Alta (Caja negra)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Difusa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Manejo de imprecisión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Control de electrodomésticos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Baja (Interpretable)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Robótica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Interacción física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Automatización industrial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 (Hardware/Software)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1" name="Google Shape;211;p23"/>
          <p:cNvSpPr/>
          <p:nvPr/>
        </p:nvSpPr>
        <p:spPr>
          <a:xfrm>
            <a:off x="571500" y="3863280"/>
            <a:ext cx="214803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2719536" y="3863280"/>
            <a:ext cx="25558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275361" y="3863280"/>
            <a:ext cx="33315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8606879" y="3863280"/>
            <a:ext cx="301362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71500" y="4520505"/>
            <a:ext cx="214803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2719536" y="4520505"/>
            <a:ext cx="25558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275361" y="4520505"/>
            <a:ext cx="33315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8606879" y="4520505"/>
            <a:ext cx="301362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571500" y="5177730"/>
            <a:ext cx="214803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2719536" y="5177730"/>
            <a:ext cx="25558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275361" y="5177730"/>
            <a:ext cx="33315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606879" y="5177730"/>
            <a:ext cx="301362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Comparativa de Tecnologías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/>
          <p:nvPr/>
        </p:nvSpPr>
        <p:spPr>
          <a:xfrm>
            <a:off x="571500" y="130046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208523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287000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365477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463763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20757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20757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28604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28604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36452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36452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46281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46281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56109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56109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98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1666875" y="14433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https://weiss-robotics.com/files/images/startseite/slider_sterigrip.jpg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666875" y="168905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weiss-robotics.com</a:t>
            </a:r>
            <a:endParaRPr/>
          </a:p>
        </p:txBody>
      </p:sp>
      <p:pic>
        <p:nvPicPr>
          <p:cNvPr id="257" name="Google Shape;25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3465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66875" y="222810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https://bostondynamics.com/wp-content/uploads/2025/03/atlas-sequencing-blog.jpg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666875" y="247382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bostondynamics.com</a:t>
            </a:r>
            <a:endParaRPr/>
          </a:p>
        </p:txBody>
      </p:sp>
      <p:pic>
        <p:nvPicPr>
          <p:cNvPr id="260" name="Google Shape;26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194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66875" y="301287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https://miro.medium.com/1*ZW_uBZFtdMKb6kSL2Otrsw.jpeg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66875" y="325859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id="263" name="Google Shape;263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033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379764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https://eu-images.contentstack.com/v3/assets/blt69509c9116440be8/blt990e9cd2ddd54ae4/66e052b7ebce77537c63738d/selfdriving_chombosan-AlamyStockPhoto.jpg?width=1280&amp;auto=webp&amp;quality=80&amp;disable=upscale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42414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www.informationweek.com</a:t>
            </a:r>
            <a:endParaRPr/>
          </a:p>
        </p:txBody>
      </p:sp>
      <p:pic>
        <p:nvPicPr>
          <p:cNvPr id="266" name="Google Shape;266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861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478050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https://media.istockphoto.com/id/1166057711/vector/biometric-person-identification-facial-recognition-concept-futuristic-low-polygonal-human.jpg?s=612x612&amp;w=0&amp;k=20&amp;c=bEePF402x94i0sHzgQ9kc8TSGb3jSs4DbeqIusyiIPM=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522431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id="269" name="Google Shape;269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7699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57633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https://retail-optimiser.de/wp-content/smush-webp/2022/07/Aldi_Trigo_Utrecht-780x470.jpg.webp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60090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retail-optimiser.de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762000" y="46226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571500" y="46226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12</Slides>
  <Notes>12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Eliaquin Perez Gutierrez</cp:lastModifiedBy>
  <cp:revision>1</cp:revision>
  <dcterms:modified xsi:type="dcterms:W3CDTF">2026-03-22T18:49:49Z</dcterms:modified>
</cp:coreProperties>
</file>